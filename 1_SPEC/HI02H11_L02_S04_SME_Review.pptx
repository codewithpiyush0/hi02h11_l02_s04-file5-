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385" autoAdjust="0"/>
  </p:normalViewPr>
  <p:slideViewPr>
    <p:cSldViewPr snapToGrid="0" snapToObjects="1">
      <p:cViewPr varScale="1">
        <p:scale>
          <a:sx n="59" d="100"/>
          <a:sy n="59" d="100"/>
        </p:scale>
        <p:origin x="94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B4B7B-47C3-42E3-9905-EC762BBE4EA6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B3736-A798-4C43-B1A5-E113079F96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248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b="1" dirty="0"/>
              <a:t>Recommendations: </a:t>
            </a:r>
            <a:r>
              <a:rPr lang="en-GB" b="1" dirty="0" err="1"/>
              <a:t>मात्राओं</a:t>
            </a:r>
            <a:r>
              <a:rPr lang="en-GB" b="1" dirty="0"/>
              <a:t>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रेल</a:t>
            </a:r>
            <a:endParaRPr lang="en-GB" dirty="0"/>
          </a:p>
          <a:p>
            <a:r>
              <a:rPr lang="en-GB" b="1" dirty="0"/>
              <a:t>Screen Changes: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all extra text that is not required.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screen clean and minimal.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only two </a:t>
            </a:r>
            <a:r>
              <a:rPr lang="en-GB" dirty="0" err="1"/>
              <a:t>matra</a:t>
            </a:r>
            <a:r>
              <a:rPr lang="en-GB" dirty="0"/>
              <a:t> boxes/cards: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1st box: ‘ओ’ (◌ो)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2nd box: ‘औ’ (◌ौ)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Follow the same train-theme visual treatment used in the previous PPT. The </a:t>
            </a:r>
            <a:r>
              <a:rPr lang="en-GB" dirty="0" err="1"/>
              <a:t>matras</a:t>
            </a:r>
            <a:r>
              <a:rPr lang="en-GB" dirty="0"/>
              <a:t> can be shown inside two train bogies/cards so that the lesson visually continues as a </a:t>
            </a:r>
            <a:r>
              <a:rPr lang="en-GB" b="1" dirty="0"/>
              <a:t>“</a:t>
            </a:r>
            <a:r>
              <a:rPr lang="en-GB" b="1" dirty="0" err="1"/>
              <a:t>मात्राओं</a:t>
            </a:r>
            <a:r>
              <a:rPr lang="en-GB" b="1" dirty="0"/>
              <a:t>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रेल</a:t>
            </a:r>
            <a:r>
              <a:rPr lang="en-GB" b="1" dirty="0"/>
              <a:t>”</a:t>
            </a:r>
            <a:r>
              <a:rPr lang="en-GB" dirty="0"/>
              <a:t> journey.</a:t>
            </a:r>
          </a:p>
          <a:p>
            <a:r>
              <a:rPr lang="en-GB" b="1" dirty="0"/>
              <a:t>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possible, bring the train onto the screen with a smooth </a:t>
            </a:r>
            <a:r>
              <a:rPr lang="en-GB" b="1" dirty="0"/>
              <a:t>right-to-left animation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two </a:t>
            </a:r>
            <a:r>
              <a:rPr lang="en-GB" dirty="0" err="1"/>
              <a:t>matra</a:t>
            </a:r>
            <a:r>
              <a:rPr lang="en-GB" dirty="0"/>
              <a:t> boxes/bogies can appear one by one with a soft </a:t>
            </a:r>
            <a:r>
              <a:rPr lang="en-GB" b="1" dirty="0"/>
              <a:t>pop/fade animation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First show </a:t>
            </a:r>
            <a:r>
              <a:rPr lang="en-GB" b="1" dirty="0"/>
              <a:t>◌ो</a:t>
            </a:r>
            <a:r>
              <a:rPr lang="en-GB" dirty="0"/>
              <a:t>, followed by </a:t>
            </a:r>
            <a:r>
              <a:rPr lang="en-GB" b="1" dirty="0"/>
              <a:t>◌ौ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animations subtle and child-friendly.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a soft </a:t>
            </a:r>
            <a:r>
              <a:rPr lang="en-GB" b="1" dirty="0"/>
              <a:t>train arrival/whistle SFX</a:t>
            </a:r>
            <a:r>
              <a:rPr lang="en-GB" dirty="0"/>
              <a:t> when the train enters.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a light </a:t>
            </a:r>
            <a:r>
              <a:rPr lang="en-GB" b="1" dirty="0"/>
              <a:t>sparkle/pop SFX</a:t>
            </a:r>
            <a:r>
              <a:rPr lang="en-GB" dirty="0"/>
              <a:t> when each </a:t>
            </a:r>
            <a:r>
              <a:rPr lang="en-GB" dirty="0" err="1"/>
              <a:t>matra</a:t>
            </a:r>
            <a:r>
              <a:rPr lang="en-GB" dirty="0"/>
              <a:t> appears.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हेलो</a:t>
            </a:r>
            <a:r>
              <a:rPr lang="en-GB" b="1" dirty="0"/>
              <a:t> </a:t>
            </a:r>
            <a:r>
              <a:rPr lang="en-GB" b="1" dirty="0" err="1"/>
              <a:t>दोस्त</a:t>
            </a:r>
            <a:r>
              <a:rPr lang="en-GB" b="1" dirty="0"/>
              <a:t>! </a:t>
            </a:r>
            <a:r>
              <a:rPr lang="en-GB" b="1" dirty="0" err="1"/>
              <a:t>मैं</a:t>
            </a:r>
            <a:r>
              <a:rPr lang="en-GB" b="1" dirty="0"/>
              <a:t> </a:t>
            </a:r>
            <a:r>
              <a:rPr lang="en-GB" b="1" dirty="0" err="1"/>
              <a:t>हूँ</a:t>
            </a:r>
            <a:r>
              <a:rPr lang="en-GB" b="1" dirty="0"/>
              <a:t> </a:t>
            </a:r>
            <a:r>
              <a:rPr lang="en-GB" b="1" dirty="0" err="1"/>
              <a:t>स्विफ्टी</a:t>
            </a:r>
            <a:r>
              <a:rPr lang="en-GB" b="1" dirty="0"/>
              <a:t>। </a:t>
            </a:r>
            <a:r>
              <a:rPr lang="en-GB" b="1" dirty="0" err="1"/>
              <a:t>आज</a:t>
            </a:r>
            <a:r>
              <a:rPr lang="en-GB" b="1" dirty="0"/>
              <a:t> </a:t>
            </a:r>
            <a:r>
              <a:rPr lang="en-GB" b="1" dirty="0" err="1"/>
              <a:t>हम</a:t>
            </a:r>
            <a:r>
              <a:rPr lang="en-GB" b="1" dirty="0"/>
              <a:t> </a:t>
            </a:r>
            <a:r>
              <a:rPr lang="en-GB" b="1" dirty="0" err="1"/>
              <a:t>मात्राओं</a:t>
            </a:r>
            <a:r>
              <a:rPr lang="en-GB" b="1" dirty="0"/>
              <a:t>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बारे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जानेंगे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After this VO, the two </a:t>
            </a:r>
            <a:r>
              <a:rPr lang="en-GB" dirty="0" err="1"/>
              <a:t>matras</a:t>
            </a:r>
            <a:r>
              <a:rPr lang="en-GB" dirty="0"/>
              <a:t> </a:t>
            </a:r>
            <a:r>
              <a:rPr lang="en-GB" b="1" dirty="0"/>
              <a:t>‘ओ’ (◌ो), ‘औ’ (◌ौ)</a:t>
            </a:r>
            <a:r>
              <a:rPr lang="en-GB" dirty="0"/>
              <a:t> can appear one by one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आज</a:t>
            </a:r>
            <a:r>
              <a:rPr lang="en-GB" b="1" dirty="0"/>
              <a:t> </a:t>
            </a:r>
            <a:r>
              <a:rPr lang="en-GB" b="1" dirty="0" err="1"/>
              <a:t>हम</a:t>
            </a:r>
            <a:r>
              <a:rPr lang="en-GB" b="1" dirty="0"/>
              <a:t> ओ </a:t>
            </a:r>
            <a:r>
              <a:rPr lang="en-GB" b="1" dirty="0" err="1"/>
              <a:t>और</a:t>
            </a:r>
            <a:r>
              <a:rPr lang="en-GB" b="1" dirty="0"/>
              <a:t> औ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पढ़ेंगे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 err="1"/>
              <a:t>इसके</a:t>
            </a:r>
            <a:r>
              <a:rPr lang="en-GB" dirty="0"/>
              <a:t> </a:t>
            </a:r>
            <a:r>
              <a:rPr lang="en-GB" dirty="0" err="1"/>
              <a:t>बाद</a:t>
            </a:r>
            <a:r>
              <a:rPr lang="en-GB" dirty="0"/>
              <a:t> pair-wise VO </a:t>
            </a:r>
            <a:r>
              <a:rPr lang="en-GB" dirty="0" err="1"/>
              <a:t>इस</a:t>
            </a:r>
            <a:r>
              <a:rPr lang="en-GB" dirty="0"/>
              <a:t> </a:t>
            </a:r>
            <a:r>
              <a:rPr lang="en-GB" dirty="0" err="1"/>
              <a:t>तरह</a:t>
            </a:r>
            <a:r>
              <a:rPr lang="en-GB" dirty="0"/>
              <a:t> </a:t>
            </a:r>
            <a:r>
              <a:rPr lang="en-GB" dirty="0" err="1"/>
              <a:t>चल</a:t>
            </a:r>
            <a:r>
              <a:rPr lang="en-GB" dirty="0"/>
              <a:t> </a:t>
            </a:r>
            <a:r>
              <a:rPr lang="en-GB" dirty="0" err="1"/>
              <a:t>सकती</a:t>
            </a:r>
            <a:r>
              <a:rPr lang="en-GB" dirty="0"/>
              <a:t> </a:t>
            </a:r>
            <a:r>
              <a:rPr lang="en-GB" dirty="0" err="1"/>
              <a:t>है</a:t>
            </a:r>
            <a:r>
              <a:rPr lang="en-GB" dirty="0"/>
              <a:t>:</a:t>
            </a:r>
          </a:p>
          <a:p>
            <a:r>
              <a:rPr lang="en-GB" b="1" dirty="0"/>
              <a:t>“</a:t>
            </a:r>
            <a:r>
              <a:rPr lang="en-GB" b="1" dirty="0" err="1"/>
              <a:t>यह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 ओ। </a:t>
            </a:r>
            <a:r>
              <a:rPr lang="en-GB" b="1" dirty="0" err="1"/>
              <a:t>इसकी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।”</a:t>
            </a:r>
            <a:br>
              <a:rPr lang="en-GB" dirty="0"/>
            </a:br>
            <a:r>
              <a:rPr lang="en-GB" b="1" dirty="0"/>
              <a:t>“</a:t>
            </a:r>
            <a:r>
              <a:rPr lang="en-GB" b="1" dirty="0" err="1"/>
              <a:t>यह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 औ। </a:t>
            </a:r>
            <a:r>
              <a:rPr lang="en-GB" b="1" dirty="0" err="1"/>
              <a:t>इसकी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heading: </a:t>
            </a:r>
            <a:r>
              <a:rPr lang="en-GB" b="1" dirty="0"/>
              <a:t>“</a:t>
            </a:r>
            <a:r>
              <a:rPr lang="en-GB" b="1" dirty="0" err="1"/>
              <a:t>आज</a:t>
            </a:r>
            <a:r>
              <a:rPr lang="en-GB" b="1" dirty="0"/>
              <a:t> </a:t>
            </a:r>
            <a:r>
              <a:rPr lang="en-GB" b="1" dirty="0" err="1"/>
              <a:t>हम</a:t>
            </a:r>
            <a:r>
              <a:rPr lang="en-GB" b="1" dirty="0"/>
              <a:t> ओ </a:t>
            </a:r>
            <a:r>
              <a:rPr lang="en-GB" b="1" dirty="0" err="1"/>
              <a:t>और</a:t>
            </a:r>
            <a:r>
              <a:rPr lang="en-GB" b="1" dirty="0"/>
              <a:t> औ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पढ़ेंगे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any additional text so the screen stays clean and focused.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 </a:t>
            </a:r>
            <a:r>
              <a:rPr lang="en-GB" b="1" dirty="0"/>
              <a:t>letter and its corresponding </a:t>
            </a:r>
            <a:r>
              <a:rPr lang="en-GB" b="1" dirty="0" err="1"/>
              <a:t>matra</a:t>
            </a:r>
            <a:r>
              <a:rPr lang="en-GB" b="1" dirty="0"/>
              <a:t> symbol as a pair</a:t>
            </a:r>
            <a:r>
              <a:rPr lang="en-GB" dirty="0"/>
              <a:t>, one by 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only </a:t>
            </a:r>
            <a:r>
              <a:rPr lang="en-GB" b="1" dirty="0"/>
              <a:t>one pair active at a time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each active pair when its VO plays.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Follow this sequence: </a:t>
            </a:r>
            <a:r>
              <a:rPr lang="en-GB" b="1" dirty="0"/>
              <a:t>ओ → ◌ो</a:t>
            </a:r>
            <a:r>
              <a:rPr lang="en-GB" dirty="0"/>
              <a:t>, then </a:t>
            </a:r>
            <a:r>
              <a:rPr lang="en-GB" b="1" dirty="0"/>
              <a:t>औ → ◌ौ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possible, show each pair inside a train-style card or bogie to maintain the train theme.</a:t>
            </a:r>
          </a:p>
          <a:p>
            <a:r>
              <a:rPr lang="en-GB" b="1" dirty="0"/>
              <a:t>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First </a:t>
            </a:r>
            <a:r>
              <a:rPr lang="en-GB" b="1" dirty="0"/>
              <a:t>ओ</a:t>
            </a:r>
            <a:r>
              <a:rPr lang="en-GB" dirty="0"/>
              <a:t> appears, then </a:t>
            </a:r>
            <a:r>
              <a:rPr lang="en-GB" b="1" dirty="0"/>
              <a:t>◌ो</a:t>
            </a:r>
            <a:r>
              <a:rPr lang="en-GB" dirty="0"/>
              <a:t> appears beside it with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its VO finishes, dim the first pair slightly.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Then </a:t>
            </a:r>
            <a:r>
              <a:rPr lang="en-GB" b="1" dirty="0"/>
              <a:t>औ</a:t>
            </a:r>
            <a:r>
              <a:rPr lang="en-GB" dirty="0"/>
              <a:t> appears, followed by </a:t>
            </a:r>
            <a:r>
              <a:rPr lang="en-GB" b="1" dirty="0"/>
              <a:t>◌ौ</a:t>
            </a:r>
            <a:r>
              <a:rPr lang="en-GB" dirty="0"/>
              <a:t> beside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the </a:t>
            </a:r>
            <a:r>
              <a:rPr lang="en-GB" dirty="0" err="1"/>
              <a:t>matra</a:t>
            </a:r>
            <a:r>
              <a:rPr lang="en-GB" dirty="0"/>
              <a:t> strokes in red. Keep the dotted circle neutral.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simple </a:t>
            </a:r>
            <a:r>
              <a:rPr lang="en-GB" b="1" dirty="0"/>
              <a:t>pop/fade animations</a:t>
            </a:r>
            <a:r>
              <a:rPr lang="en-GB" dirty="0"/>
              <a:t>, synchronised with the VO.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animations subtle and child-friendly, without extra decorative elements.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a soft </a:t>
            </a:r>
            <a:r>
              <a:rPr lang="en-GB" b="1" dirty="0"/>
              <a:t>pop/chime</a:t>
            </a:r>
            <a:r>
              <a:rPr lang="en-GB" dirty="0"/>
              <a:t> when each </a:t>
            </a:r>
            <a:r>
              <a:rPr lang="en-GB" dirty="0" err="1"/>
              <a:t>matra</a:t>
            </a:r>
            <a:r>
              <a:rPr lang="en-GB" dirty="0"/>
              <a:t> symbol appears.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SFX subtle so the VO remains clear.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</a:t>
            </a:r>
            <a:r>
              <a:rPr lang="en-GB" b="1" dirty="0" err="1"/>
              <a:t>आगे</a:t>
            </a:r>
            <a:r>
              <a:rPr lang="en-GB" dirty="0"/>
              <a:t> button disabled during the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both pairs have been shown and spoken.</a:t>
            </a:r>
          </a:p>
          <a:p>
            <a:r>
              <a:rPr lang="en-GB" b="1" dirty="0"/>
              <a:t>Note: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This slide introduces the two </a:t>
            </a:r>
            <a:r>
              <a:rPr lang="en-GB" dirty="0" err="1"/>
              <a:t>matras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should clearly connect </a:t>
            </a:r>
            <a:r>
              <a:rPr lang="en-GB" b="1" dirty="0"/>
              <a:t>ओ → ◌ो</a:t>
            </a:r>
            <a:r>
              <a:rPr lang="en-GB" dirty="0"/>
              <a:t> and </a:t>
            </a:r>
            <a:r>
              <a:rPr lang="en-GB" b="1" dirty="0"/>
              <a:t>औ → ◌ौ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Refer to them as </a:t>
            </a:r>
            <a:r>
              <a:rPr lang="en-GB" b="1" dirty="0"/>
              <a:t>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dirty="0"/>
              <a:t> and </a:t>
            </a:r>
            <a:r>
              <a:rPr lang="en-GB" b="1" dirty="0"/>
              <a:t>औ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dirty="0"/>
              <a:t>. Do not use “</a:t>
            </a:r>
            <a:r>
              <a:rPr lang="en-GB" dirty="0" err="1"/>
              <a:t>छोटी</a:t>
            </a:r>
            <a:r>
              <a:rPr lang="en-GB" dirty="0"/>
              <a:t>” or “</a:t>
            </a:r>
            <a:r>
              <a:rPr lang="en-GB" dirty="0" err="1"/>
              <a:t>बड़ी</a:t>
            </a:r>
            <a:r>
              <a:rPr lang="en-GB" dirty="0"/>
              <a:t>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dotted circle only helps display the </a:t>
            </a:r>
            <a:r>
              <a:rPr lang="en-GB" dirty="0" err="1"/>
              <a:t>matra</a:t>
            </a:r>
            <a:r>
              <a:rPr lang="en-GB" dirty="0"/>
              <a:t>; it is not part of the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only these two pairs to keep the screen focused.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आइए</a:t>
            </a:r>
            <a:r>
              <a:rPr lang="en-GB" b="1" dirty="0"/>
              <a:t>, </a:t>
            </a:r>
            <a:r>
              <a:rPr lang="en-GB" b="1" dirty="0" err="1"/>
              <a:t>देखें</a:t>
            </a:r>
            <a:r>
              <a:rPr lang="en-GB" b="1" dirty="0"/>
              <a:t> </a:t>
            </a:r>
            <a:r>
              <a:rPr lang="en-GB" b="1" dirty="0" err="1"/>
              <a:t>कि</a:t>
            </a:r>
            <a:r>
              <a:rPr lang="en-GB" b="1" dirty="0"/>
              <a:t> 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लगने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आवाज़</a:t>
            </a:r>
            <a:r>
              <a:rPr lang="en-GB" b="1" dirty="0"/>
              <a:t> </a:t>
            </a:r>
            <a:r>
              <a:rPr lang="en-GB" b="1" dirty="0" err="1"/>
              <a:t>कैसे</a:t>
            </a:r>
            <a:r>
              <a:rPr lang="en-GB" b="1" dirty="0"/>
              <a:t> </a:t>
            </a:r>
            <a:r>
              <a:rPr lang="en-GB" b="1" dirty="0" err="1"/>
              <a:t>बदलती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 err="1"/>
              <a:t>पहले</a:t>
            </a:r>
            <a:r>
              <a:rPr lang="en-GB" dirty="0"/>
              <a:t>:</a:t>
            </a:r>
          </a:p>
          <a:p>
            <a:r>
              <a:rPr lang="en-GB" b="1" dirty="0"/>
              <a:t>“</a:t>
            </a:r>
            <a:r>
              <a:rPr lang="en-GB" b="1" dirty="0" err="1"/>
              <a:t>यह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 — </a:t>
            </a:r>
            <a:r>
              <a:rPr lang="en-GB" b="1" dirty="0" err="1"/>
              <a:t>घड़ा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 err="1"/>
              <a:t>फिर</a:t>
            </a:r>
            <a:r>
              <a:rPr lang="en-GB" dirty="0"/>
              <a:t>:</a:t>
            </a:r>
          </a:p>
          <a:p>
            <a:r>
              <a:rPr lang="en-GB" b="1" dirty="0"/>
              <a:t>“घ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साथ</a:t>
            </a:r>
            <a:r>
              <a:rPr lang="en-GB" b="1" dirty="0"/>
              <a:t> 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घो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 err="1"/>
              <a:t>अंत</a:t>
            </a:r>
            <a:r>
              <a:rPr lang="en-GB" dirty="0"/>
              <a:t> </a:t>
            </a:r>
            <a:r>
              <a:rPr lang="en-GB" dirty="0" err="1"/>
              <a:t>में</a:t>
            </a:r>
            <a:r>
              <a:rPr lang="en-GB" dirty="0"/>
              <a:t>:</a:t>
            </a:r>
          </a:p>
          <a:p>
            <a:r>
              <a:rPr lang="en-GB" b="1" dirty="0"/>
              <a:t>“</a:t>
            </a:r>
            <a:r>
              <a:rPr lang="en-GB" b="1" dirty="0" err="1"/>
              <a:t>अब</a:t>
            </a:r>
            <a:r>
              <a:rPr lang="en-GB" b="1" dirty="0"/>
              <a:t> ‘</a:t>
            </a:r>
            <a:r>
              <a:rPr lang="en-GB" b="1" dirty="0" err="1"/>
              <a:t>ड़ा</a:t>
            </a:r>
            <a:r>
              <a:rPr lang="en-GB" b="1" dirty="0"/>
              <a:t>’ </a:t>
            </a:r>
            <a:r>
              <a:rPr lang="en-GB" b="1" dirty="0" err="1"/>
              <a:t>जुड़ने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घोड़ा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screen focused on </a:t>
            </a:r>
            <a:r>
              <a:rPr lang="en-GB" b="1" dirty="0"/>
              <a:t>one word transformation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First show </a:t>
            </a:r>
            <a:r>
              <a:rPr lang="en-GB" b="1" dirty="0" err="1"/>
              <a:t>घड़ा</a:t>
            </a:r>
            <a:r>
              <a:rPr lang="en-GB" dirty="0"/>
              <a:t> clearly on the left.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Below or beside </a:t>
            </a:r>
            <a:r>
              <a:rPr lang="en-GB" b="1" dirty="0" err="1"/>
              <a:t>घड़ा</a:t>
            </a:r>
            <a:r>
              <a:rPr lang="en-GB" dirty="0"/>
              <a:t>, show a clear </a:t>
            </a:r>
            <a:r>
              <a:rPr lang="en-GB" b="1" dirty="0"/>
              <a:t>earthen pot image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 the centre, show: </a:t>
            </a:r>
            <a:r>
              <a:rPr lang="en-GB" b="1" dirty="0"/>
              <a:t>घ + ◌ो = </a:t>
            </a:r>
            <a:r>
              <a:rPr lang="en-GB" b="1" dirty="0" err="1"/>
              <a:t>घो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the </a:t>
            </a:r>
            <a:r>
              <a:rPr lang="en-GB" b="1" dirty="0"/>
              <a:t>ो </a:t>
            </a:r>
            <a:r>
              <a:rPr lang="en-GB" b="1" dirty="0" err="1"/>
              <a:t>मात्रा</a:t>
            </a:r>
            <a:r>
              <a:rPr lang="en-GB" dirty="0"/>
              <a:t> in red when it is introduced.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that, show the final word: </a:t>
            </a:r>
            <a:r>
              <a:rPr lang="en-GB" b="1" dirty="0" err="1"/>
              <a:t>घोड़ा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 </a:t>
            </a:r>
            <a:r>
              <a:rPr lang="en-GB" b="1" dirty="0" err="1"/>
              <a:t>घोड़ा</a:t>
            </a:r>
            <a:r>
              <a:rPr lang="en-GB" dirty="0"/>
              <a:t>, highlight only </a:t>
            </a:r>
            <a:r>
              <a:rPr lang="en-GB" b="1" dirty="0"/>
              <a:t>ो</a:t>
            </a:r>
            <a:r>
              <a:rPr lang="en-GB" dirty="0"/>
              <a:t> in red so the child notices its position above and to the right of </a:t>
            </a:r>
            <a:r>
              <a:rPr lang="en-GB" b="1" dirty="0"/>
              <a:t>घ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clear </a:t>
            </a:r>
            <a:r>
              <a:rPr lang="en-GB" b="1" dirty="0"/>
              <a:t>horse image</a:t>
            </a:r>
            <a:r>
              <a:rPr lang="en-GB" dirty="0"/>
              <a:t> below or beside </a:t>
            </a:r>
            <a:r>
              <a:rPr lang="en-GB" b="1" dirty="0" err="1"/>
              <a:t>घोड़ा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screen clean. Avoid unnecessary explanatory text beneath the cards.</a:t>
            </a:r>
          </a:p>
          <a:p>
            <a:r>
              <a:rPr lang="en-GB" b="1" dirty="0"/>
              <a:t>Image Requirements: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घड़ा</a:t>
            </a:r>
            <a:r>
              <a:rPr lang="en-GB" b="1" dirty="0"/>
              <a:t>:</a:t>
            </a:r>
            <a:r>
              <a:rPr lang="en-GB" dirty="0"/>
              <a:t> A recognisable earthen water pot with a rounded body and narrow opening.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घोड़ा</a:t>
            </a:r>
            <a:r>
              <a:rPr lang="en-GB" b="1" dirty="0"/>
              <a:t>:</a:t>
            </a:r>
            <a:r>
              <a:rPr lang="en-GB" dirty="0"/>
              <a:t> A recognisable horse with its full body, legs, mane and tail clearly visible.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a consistent, child-friendly illustration style for both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pot image associated with </a:t>
            </a:r>
            <a:r>
              <a:rPr lang="en-GB" b="1" dirty="0" err="1"/>
              <a:t>घड़ा</a:t>
            </a:r>
            <a:r>
              <a:rPr lang="en-GB" dirty="0"/>
              <a:t> and the horse associated with </a:t>
            </a:r>
            <a:r>
              <a:rPr lang="en-GB" b="1" dirty="0" err="1"/>
              <a:t>घोड़ा</a:t>
            </a:r>
            <a:r>
              <a:rPr lang="en-GB" dirty="0"/>
              <a:t>. Do not animate the pot changing into a horse.</a:t>
            </a:r>
          </a:p>
          <a:p>
            <a:r>
              <a:rPr lang="en-GB" b="1" dirty="0"/>
              <a:t>Sequence: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b="1" dirty="0" err="1"/>
              <a:t>घड़ा</a:t>
            </a:r>
            <a:r>
              <a:rPr lang="en-GB" dirty="0"/>
              <a:t> appears on the left.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earthen pot image appears below or beside it.</a:t>
            </a:r>
          </a:p>
          <a:p>
            <a:pPr>
              <a:buFont typeface="+mj-lt"/>
              <a:buAutoNum type="arabicPeriod"/>
            </a:pPr>
            <a:r>
              <a:rPr lang="en-GB" dirty="0"/>
              <a:t>VO: </a:t>
            </a:r>
            <a:r>
              <a:rPr lang="en-GB" b="1" dirty="0"/>
              <a:t>“</a:t>
            </a:r>
            <a:r>
              <a:rPr lang="en-GB" b="1" dirty="0" err="1"/>
              <a:t>यह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 — </a:t>
            </a:r>
            <a:r>
              <a:rPr lang="en-GB" b="1" dirty="0" err="1"/>
              <a:t>घड़ा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Highlight </a:t>
            </a:r>
            <a:r>
              <a:rPr lang="en-GB" b="1" dirty="0"/>
              <a:t>घ</a:t>
            </a:r>
            <a:r>
              <a:rPr lang="en-GB" dirty="0"/>
              <a:t> in </a:t>
            </a:r>
            <a:r>
              <a:rPr lang="en-GB" b="1" dirty="0" err="1"/>
              <a:t>घड़ा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Show </a:t>
            </a:r>
            <a:r>
              <a:rPr lang="en-GB" b="1" dirty="0"/>
              <a:t>घ + ◌ो = </a:t>
            </a:r>
            <a:r>
              <a:rPr lang="en-GB" b="1" dirty="0" err="1"/>
              <a:t>घो</a:t>
            </a:r>
            <a:r>
              <a:rPr lang="en-GB" dirty="0"/>
              <a:t> in the centre.</a:t>
            </a:r>
          </a:p>
          <a:p>
            <a:pPr>
              <a:buFont typeface="+mj-lt"/>
              <a:buAutoNum type="arabicPeriod"/>
            </a:pPr>
            <a:r>
              <a:rPr lang="en-GB" dirty="0"/>
              <a:t>VO: </a:t>
            </a:r>
            <a:r>
              <a:rPr lang="en-GB" b="1" dirty="0"/>
              <a:t>“घ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साथ</a:t>
            </a:r>
            <a:r>
              <a:rPr lang="en-GB" b="1" dirty="0"/>
              <a:t> 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घो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Move </a:t>
            </a:r>
            <a:r>
              <a:rPr lang="en-GB" b="1" dirty="0"/>
              <a:t>ो</a:t>
            </a:r>
            <a:r>
              <a:rPr lang="en-GB" dirty="0"/>
              <a:t> into its correct position above and to the right of </a:t>
            </a:r>
            <a:r>
              <a:rPr lang="en-GB" b="1" dirty="0"/>
              <a:t>घ</a:t>
            </a:r>
            <a:r>
              <a:rPr lang="en-GB" dirty="0"/>
              <a:t>, forming </a:t>
            </a:r>
            <a:r>
              <a:rPr lang="en-GB" b="1" dirty="0" err="1"/>
              <a:t>घो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Then </a:t>
            </a:r>
            <a:r>
              <a:rPr lang="en-GB" b="1" dirty="0" err="1"/>
              <a:t>ड़ा</a:t>
            </a:r>
            <a:r>
              <a:rPr lang="en-GB" dirty="0"/>
              <a:t> joins.</a:t>
            </a:r>
          </a:p>
          <a:p>
            <a:pPr>
              <a:buFont typeface="+mj-lt"/>
              <a:buAutoNum type="arabicPeriod"/>
            </a:pPr>
            <a:r>
              <a:rPr lang="en-GB" dirty="0"/>
              <a:t>VO: </a:t>
            </a:r>
            <a:r>
              <a:rPr lang="en-GB" b="1" dirty="0"/>
              <a:t>“</a:t>
            </a:r>
            <a:r>
              <a:rPr lang="en-GB" b="1" dirty="0" err="1"/>
              <a:t>अब</a:t>
            </a:r>
            <a:r>
              <a:rPr lang="en-GB" b="1" dirty="0"/>
              <a:t> ‘</a:t>
            </a:r>
            <a:r>
              <a:rPr lang="en-GB" b="1" dirty="0" err="1"/>
              <a:t>ड़ा</a:t>
            </a:r>
            <a:r>
              <a:rPr lang="en-GB" b="1" dirty="0"/>
              <a:t>’ </a:t>
            </a:r>
            <a:r>
              <a:rPr lang="en-GB" b="1" dirty="0" err="1"/>
              <a:t>जुड़ने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घोड़ा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The final word </a:t>
            </a:r>
            <a:r>
              <a:rPr lang="en-GB" b="1" dirty="0" err="1"/>
              <a:t>घोड़ा</a:t>
            </a:r>
            <a:r>
              <a:rPr lang="en-GB" dirty="0"/>
              <a:t> appears.</a:t>
            </a:r>
          </a:p>
          <a:p>
            <a:pPr>
              <a:buFont typeface="+mj-lt"/>
              <a:buAutoNum type="arabicPeriod"/>
            </a:pPr>
            <a:r>
              <a:rPr lang="en-GB" dirty="0"/>
              <a:t>Highlight only </a:t>
            </a:r>
            <a:r>
              <a:rPr lang="en-GB" b="1" dirty="0"/>
              <a:t>ो</a:t>
            </a:r>
            <a:r>
              <a:rPr lang="en-GB" dirty="0"/>
              <a:t> inside </a:t>
            </a:r>
            <a:r>
              <a:rPr lang="en-GB" b="1" dirty="0" err="1"/>
              <a:t>घोड़ा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horse image appears below or beside </a:t>
            </a:r>
            <a:r>
              <a:rPr lang="en-GB" b="1" dirty="0" err="1"/>
              <a:t>घोड़ा</a:t>
            </a:r>
            <a:r>
              <a:rPr lang="en-GB" dirty="0"/>
              <a:t>.</a:t>
            </a:r>
          </a:p>
          <a:p>
            <a:r>
              <a:rPr lang="en-GB" b="1" dirty="0"/>
              <a:t>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a simple step-by-step animation.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all stages together at the beginning.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First reveal </a:t>
            </a:r>
            <a:r>
              <a:rPr lang="en-GB" b="1" dirty="0" err="1"/>
              <a:t>घड़ा</a:t>
            </a:r>
            <a:r>
              <a:rPr lang="en-GB" dirty="0"/>
              <a:t> and its pot image with a soft fade.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Then shift attention to </a:t>
            </a:r>
            <a:r>
              <a:rPr lang="en-GB" b="1" dirty="0"/>
              <a:t>घ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ो </a:t>
            </a:r>
            <a:r>
              <a:rPr lang="en-GB" b="1" dirty="0" err="1"/>
              <a:t>मात्रा</a:t>
            </a:r>
            <a:r>
              <a:rPr lang="en-GB" dirty="0"/>
              <a:t> should softly slide into its correct position around </a:t>
            </a:r>
            <a:r>
              <a:rPr lang="en-GB" b="1" dirty="0"/>
              <a:t>घ</a:t>
            </a:r>
            <a:r>
              <a:rPr lang="en-GB" dirty="0"/>
              <a:t>, synchronised with the VO.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Visually transform </a:t>
            </a:r>
            <a:r>
              <a:rPr lang="en-GB" b="1" dirty="0"/>
              <a:t>घ → </a:t>
            </a:r>
            <a:r>
              <a:rPr lang="en-GB" b="1" dirty="0" err="1"/>
              <a:t>घो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Then </a:t>
            </a:r>
            <a:r>
              <a:rPr lang="en-GB" b="1" dirty="0" err="1"/>
              <a:t>ड़ा</a:t>
            </a:r>
            <a:r>
              <a:rPr lang="en-GB" dirty="0"/>
              <a:t> slides in to form </a:t>
            </a:r>
            <a:r>
              <a:rPr lang="en-GB" b="1" dirty="0" err="1"/>
              <a:t>घो</a:t>
            </a:r>
            <a:r>
              <a:rPr lang="en-GB" b="1" dirty="0"/>
              <a:t> + </a:t>
            </a:r>
            <a:r>
              <a:rPr lang="en-GB" b="1" dirty="0" err="1"/>
              <a:t>ड़ा</a:t>
            </a:r>
            <a:r>
              <a:rPr lang="en-GB" b="1" dirty="0"/>
              <a:t> = </a:t>
            </a:r>
            <a:r>
              <a:rPr lang="en-GB" b="1" dirty="0" err="1"/>
              <a:t>घोड़ा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Reveal the horse image only after </a:t>
            </a:r>
            <a:r>
              <a:rPr lang="en-GB" b="1" dirty="0" err="1"/>
              <a:t>घोड़ा</a:t>
            </a:r>
            <a:r>
              <a:rPr lang="en-GB" dirty="0"/>
              <a:t> is complete.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animations subtle and child-friendly.</a:t>
            </a:r>
          </a:p>
          <a:p>
            <a:r>
              <a:rPr lang="en-GB" b="1" dirty="0"/>
              <a:t>Sound Differentiation:</a:t>
            </a:r>
            <a:endParaRPr lang="en-GB" dirty="0"/>
          </a:p>
          <a:p>
            <a:r>
              <a:rPr lang="en-GB" dirty="0"/>
              <a:t>Make the pronunciation difference clear:</a:t>
            </a:r>
          </a:p>
          <a:p>
            <a:r>
              <a:rPr lang="en-GB" b="1" dirty="0"/>
              <a:t>घ → </a:t>
            </a:r>
            <a:r>
              <a:rPr lang="en-GB" b="1" dirty="0" err="1"/>
              <a:t>घो</a:t>
            </a:r>
            <a:r>
              <a:rPr lang="en-GB" b="1" dirty="0"/>
              <a:t> → </a:t>
            </a:r>
            <a:r>
              <a:rPr lang="en-GB" b="1" dirty="0" err="1"/>
              <a:t>घोड़ा</a:t>
            </a:r>
            <a:endParaRPr lang="en-GB" dirty="0"/>
          </a:p>
          <a:p>
            <a:r>
              <a:rPr lang="en-GB" dirty="0"/>
              <a:t>Give a short pause between each sound so the child can hear how adding </a:t>
            </a:r>
            <a:r>
              <a:rPr lang="en-GB" b="1" dirty="0"/>
              <a:t>ो</a:t>
            </a:r>
            <a:r>
              <a:rPr lang="en-GB" dirty="0"/>
              <a:t> changes the sound.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a soft pop when each image or the </a:t>
            </a:r>
            <a:r>
              <a:rPr lang="en-GB" dirty="0" err="1"/>
              <a:t>matra</a:t>
            </a:r>
            <a:r>
              <a:rPr lang="en-GB" dirty="0"/>
              <a:t> appears.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a light chime when </a:t>
            </a:r>
            <a:r>
              <a:rPr lang="en-GB" b="1" dirty="0"/>
              <a:t>घ</a:t>
            </a:r>
            <a:r>
              <a:rPr lang="en-GB" dirty="0"/>
              <a:t> changes to </a:t>
            </a:r>
            <a:r>
              <a:rPr lang="en-GB" b="1" dirty="0" err="1"/>
              <a:t>घो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a small success sound when </a:t>
            </a:r>
            <a:r>
              <a:rPr lang="en-GB" b="1" dirty="0" err="1"/>
              <a:t>घोड़ा</a:t>
            </a:r>
            <a:r>
              <a:rPr lang="en-GB" dirty="0"/>
              <a:t> is completed.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SFX subtle so the pronunciation remains clear.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</a:t>
            </a:r>
            <a:r>
              <a:rPr lang="en-GB" b="1" dirty="0" err="1"/>
              <a:t>आगे</a:t>
            </a:r>
            <a:r>
              <a:rPr lang="en-GB" dirty="0"/>
              <a:t> button disabled during the complete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</a:t>
            </a:r>
            <a:r>
              <a:rPr lang="en-GB" b="1" dirty="0" err="1"/>
              <a:t>घड़ा</a:t>
            </a:r>
            <a:r>
              <a:rPr lang="en-GB" dirty="0"/>
              <a:t> and its image have been introduced, </a:t>
            </a:r>
            <a:r>
              <a:rPr lang="en-GB" b="1" dirty="0"/>
              <a:t>घ → </a:t>
            </a:r>
            <a:r>
              <a:rPr lang="en-GB" b="1" dirty="0" err="1"/>
              <a:t>घो</a:t>
            </a:r>
            <a:r>
              <a:rPr lang="en-GB" b="1" dirty="0"/>
              <a:t> → </a:t>
            </a:r>
            <a:r>
              <a:rPr lang="en-GB" b="1" dirty="0" err="1"/>
              <a:t>घोड़ा</a:t>
            </a:r>
            <a:r>
              <a:rPr lang="en-GB" dirty="0"/>
              <a:t> has been demonstrated, and the horse image has appeared.</a:t>
            </a:r>
          </a:p>
          <a:p>
            <a:r>
              <a:rPr lang="en-GB" b="1" dirty="0"/>
              <a:t>Note: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Use: </a:t>
            </a:r>
            <a:r>
              <a:rPr lang="en-GB" b="1" dirty="0"/>
              <a:t>“घ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साथ</a:t>
            </a:r>
            <a:r>
              <a:rPr lang="en-GB" b="1" dirty="0"/>
              <a:t> 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घो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Refer to it as </a:t>
            </a:r>
            <a:r>
              <a:rPr lang="en-GB" b="1" dirty="0"/>
              <a:t>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dirty="0"/>
              <a:t>, without “</a:t>
            </a:r>
            <a:r>
              <a:rPr lang="en-GB" dirty="0" err="1"/>
              <a:t>छोटी</a:t>
            </a:r>
            <a:r>
              <a:rPr lang="en-GB" dirty="0"/>
              <a:t>” or “</a:t>
            </a:r>
            <a:r>
              <a:rPr lang="en-GB" dirty="0" err="1"/>
              <a:t>बड़ी</a:t>
            </a:r>
            <a:r>
              <a:rPr lang="en-GB" dirty="0"/>
              <a:t>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the complete </a:t>
            </a:r>
            <a:r>
              <a:rPr lang="en-GB" b="1" dirty="0"/>
              <a:t>ो </a:t>
            </a:r>
            <a:r>
              <a:rPr lang="en-GB" b="1" dirty="0" err="1"/>
              <a:t>मात्रा</a:t>
            </a:r>
            <a:r>
              <a:rPr lang="en-GB" dirty="0"/>
              <a:t>, including its upper stroke and right-side vertical stroke,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consonants, headline, </a:t>
            </a:r>
            <a:r>
              <a:rPr lang="en-GB" dirty="0" err="1"/>
              <a:t>nukta</a:t>
            </a:r>
            <a:r>
              <a:rPr lang="en-GB" dirty="0"/>
              <a:t> under </a:t>
            </a:r>
            <a:r>
              <a:rPr lang="en-GB" b="1" dirty="0" err="1"/>
              <a:t>ड़</a:t>
            </a:r>
            <a:r>
              <a:rPr lang="en-GB" dirty="0"/>
              <a:t>, and existing </a:t>
            </a:r>
            <a:r>
              <a:rPr lang="en-GB" b="1" dirty="0"/>
              <a:t>ा </a:t>
            </a:r>
            <a:r>
              <a:rPr lang="en-GB" b="1" dirty="0" err="1"/>
              <a:t>मात्रा</a:t>
            </a:r>
            <a:r>
              <a:rPr lang="en-GB" dirty="0"/>
              <a:t> in </a:t>
            </a:r>
            <a:r>
              <a:rPr lang="en-GB" b="1" dirty="0" err="1"/>
              <a:t>ड़ा</a:t>
            </a:r>
            <a:r>
              <a:rPr lang="en-GB" dirty="0"/>
              <a:t>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ड़ा</a:t>
            </a:r>
            <a:r>
              <a:rPr lang="en-GB" dirty="0"/>
              <a:t> together when it joins </a:t>
            </a:r>
            <a:r>
              <a:rPr lang="en-GB" b="1" dirty="0" err="1"/>
              <a:t>घो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dotted circle in </a:t>
            </a:r>
            <a:r>
              <a:rPr lang="en-GB" b="1" dirty="0"/>
              <a:t>◌ो</a:t>
            </a:r>
            <a:r>
              <a:rPr lang="en-GB" dirty="0"/>
              <a:t> is a display aid. It should disappear when the </a:t>
            </a:r>
            <a:r>
              <a:rPr lang="en-GB" dirty="0" err="1"/>
              <a:t>matra</a:t>
            </a:r>
            <a:r>
              <a:rPr lang="en-GB" dirty="0"/>
              <a:t> joins </a:t>
            </a:r>
            <a:r>
              <a:rPr lang="en-GB" b="1" dirty="0"/>
              <a:t>घ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key visual learning should remain:</a:t>
            </a:r>
          </a:p>
          <a:p>
            <a:r>
              <a:rPr lang="en-GB" b="1" dirty="0" err="1"/>
              <a:t>घड़ा</a:t>
            </a:r>
            <a:r>
              <a:rPr lang="en-GB" b="1" dirty="0"/>
              <a:t> (earthen pot) → घ + ◌ो = </a:t>
            </a:r>
            <a:r>
              <a:rPr lang="en-GB" b="1" dirty="0" err="1"/>
              <a:t>घो</a:t>
            </a:r>
            <a:r>
              <a:rPr lang="en-GB" b="1" dirty="0"/>
              <a:t> → </a:t>
            </a:r>
            <a:r>
              <a:rPr lang="en-GB" b="1" dirty="0" err="1"/>
              <a:t>घोड़ा</a:t>
            </a:r>
            <a:r>
              <a:rPr lang="en-GB" b="1" dirty="0"/>
              <a:t> (horse)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आइए</a:t>
            </a:r>
            <a:r>
              <a:rPr lang="en-GB" b="1" dirty="0"/>
              <a:t>, 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कुछ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देखें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 err="1"/>
              <a:t>पहले</a:t>
            </a:r>
            <a:r>
              <a:rPr lang="en-GB" dirty="0"/>
              <a:t>:</a:t>
            </a:r>
          </a:p>
          <a:p>
            <a:r>
              <a:rPr lang="en-GB" b="1" dirty="0"/>
              <a:t>“</a:t>
            </a:r>
            <a:r>
              <a:rPr lang="en-GB" b="1" dirty="0" err="1"/>
              <a:t>मोर</a:t>
            </a:r>
            <a:r>
              <a:rPr lang="en-GB" b="1" dirty="0"/>
              <a:t> — </a:t>
            </a:r>
            <a:r>
              <a:rPr lang="en-GB" b="1" dirty="0" err="1"/>
              <a:t>बोलकर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 </a:t>
            </a:r>
            <a:r>
              <a:rPr lang="en-GB" b="1" dirty="0" err="1"/>
              <a:t>इसमें</a:t>
            </a:r>
            <a:r>
              <a:rPr lang="en-GB" b="1" dirty="0"/>
              <a:t> म </a:t>
            </a:r>
            <a:r>
              <a:rPr lang="en-GB" b="1" dirty="0" err="1"/>
              <a:t>पर</a:t>
            </a:r>
            <a:r>
              <a:rPr lang="en-GB" b="1" dirty="0"/>
              <a:t> 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लगी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 err="1"/>
              <a:t>फिर</a:t>
            </a:r>
            <a:r>
              <a:rPr lang="en-GB" dirty="0"/>
              <a:t>:</a:t>
            </a:r>
          </a:p>
          <a:p>
            <a:r>
              <a:rPr lang="en-GB" b="1" dirty="0"/>
              <a:t>“</a:t>
            </a:r>
            <a:r>
              <a:rPr lang="en-GB" b="1" dirty="0" err="1"/>
              <a:t>कोयल</a:t>
            </a:r>
            <a:r>
              <a:rPr lang="en-GB" b="1" dirty="0"/>
              <a:t> — </a:t>
            </a:r>
            <a:r>
              <a:rPr lang="en-GB" b="1" dirty="0" err="1"/>
              <a:t>बोलकर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 </a:t>
            </a:r>
            <a:r>
              <a:rPr lang="en-GB" b="1" dirty="0" err="1"/>
              <a:t>इसमें</a:t>
            </a:r>
            <a:r>
              <a:rPr lang="en-GB" b="1" dirty="0"/>
              <a:t> क </a:t>
            </a:r>
            <a:r>
              <a:rPr lang="en-GB" b="1" dirty="0" err="1"/>
              <a:t>पर</a:t>
            </a:r>
            <a:r>
              <a:rPr lang="en-GB" b="1" dirty="0"/>
              <a:t> 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लगी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heading: </a:t>
            </a:r>
            <a:r>
              <a:rPr lang="en-GB" b="1" dirty="0"/>
              <a:t>“ओ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पढ़िए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only </a:t>
            </a:r>
            <a:r>
              <a:rPr lang="en-GB" b="1" dirty="0"/>
              <a:t>one example visible at a time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First show </a:t>
            </a:r>
            <a:r>
              <a:rPr lang="en-GB" b="1" dirty="0" err="1"/>
              <a:t>मोर</a:t>
            </a:r>
            <a:r>
              <a:rPr lang="en-GB" dirty="0"/>
              <a:t>, followed by a clear </a:t>
            </a:r>
            <a:r>
              <a:rPr lang="en-GB" b="1" dirty="0"/>
              <a:t>peacock image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the </a:t>
            </a:r>
            <a:r>
              <a:rPr lang="en-GB" b="1" dirty="0"/>
              <a:t>ो </a:t>
            </a:r>
            <a:r>
              <a:rPr lang="en-GB" b="1" dirty="0" err="1"/>
              <a:t>मात्रा</a:t>
            </a:r>
            <a:r>
              <a:rPr lang="en-GB" dirty="0"/>
              <a:t> attached to </a:t>
            </a:r>
            <a:r>
              <a:rPr lang="en-GB" b="1" dirty="0"/>
              <a:t>म</a:t>
            </a:r>
            <a:r>
              <a:rPr lang="en-GB" dirty="0"/>
              <a:t> in </a:t>
            </a:r>
            <a:r>
              <a:rPr lang="en-GB" b="1" dirty="0" err="1"/>
              <a:t>मोर</a:t>
            </a:r>
            <a:r>
              <a:rPr lang="en-GB" dirty="0"/>
              <a:t>, using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first example finishes, show </a:t>
            </a:r>
            <a:r>
              <a:rPr lang="en-GB" b="1" dirty="0" err="1"/>
              <a:t>कोयल</a:t>
            </a:r>
            <a:r>
              <a:rPr lang="en-GB" dirty="0"/>
              <a:t>, followed by a clear </a:t>
            </a:r>
            <a:r>
              <a:rPr lang="en-GB" b="1" dirty="0" err="1"/>
              <a:t>koel</a:t>
            </a:r>
            <a:r>
              <a:rPr lang="en-GB" b="1" dirty="0"/>
              <a:t> image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the </a:t>
            </a:r>
            <a:r>
              <a:rPr lang="en-GB" b="1" dirty="0"/>
              <a:t>ो </a:t>
            </a:r>
            <a:r>
              <a:rPr lang="en-GB" b="1" dirty="0" err="1"/>
              <a:t>मात्रा</a:t>
            </a:r>
            <a:r>
              <a:rPr lang="en-GB" dirty="0"/>
              <a:t> attached to </a:t>
            </a:r>
            <a:r>
              <a:rPr lang="en-GB" b="1" dirty="0"/>
              <a:t>क</a:t>
            </a:r>
            <a:r>
              <a:rPr lang="en-GB" dirty="0"/>
              <a:t> in </a:t>
            </a:r>
            <a:r>
              <a:rPr lang="en-GB" b="1" dirty="0" err="1"/>
              <a:t>कोयल</a:t>
            </a:r>
            <a:r>
              <a:rPr lang="en-GB" dirty="0"/>
              <a:t>, using the same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retaining the </a:t>
            </a:r>
            <a:r>
              <a:rPr lang="en-GB" b="1" dirty="0"/>
              <a:t>“</a:t>
            </a:r>
            <a:r>
              <a:rPr lang="en-GB" b="1" dirty="0" err="1"/>
              <a:t>इस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”</a:t>
            </a:r>
            <a:r>
              <a:rPr lang="en-GB" dirty="0"/>
              <a:t> label, show </a:t>
            </a:r>
            <a:r>
              <a:rPr lang="en-GB" b="1" dirty="0"/>
              <a:t>◌ो</a:t>
            </a:r>
            <a:r>
              <a:rPr lang="en-GB" dirty="0"/>
              <a:t> for both examples.</a:t>
            </a:r>
          </a:p>
          <a:p>
            <a:r>
              <a:rPr lang="en-GB" b="1" dirty="0"/>
              <a:t>Image Requirements: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मोर</a:t>
            </a:r>
            <a:r>
              <a:rPr lang="en-GB" b="1" dirty="0"/>
              <a:t>:</a:t>
            </a:r>
            <a:r>
              <a:rPr lang="en-GB" dirty="0"/>
              <a:t> A recognisable peacock with a blue neck, head crest and clearly visible colourful tail feathers.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कोयल</a:t>
            </a:r>
            <a:r>
              <a:rPr lang="en-GB" b="1" dirty="0"/>
              <a:t>:</a:t>
            </a:r>
            <a:r>
              <a:rPr lang="en-GB" dirty="0"/>
              <a:t> A recognisable black </a:t>
            </a:r>
            <a:r>
              <a:rPr lang="en-GB" dirty="0" err="1"/>
              <a:t>koel</a:t>
            </a:r>
            <a:r>
              <a:rPr lang="en-GB" dirty="0"/>
              <a:t> with a slender body, long tail and red eye, perched on a simple branch.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Make the two birds visually distinct so children can identify them easily.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a consistent, child-friendly illustration style with minimal background detail.</a:t>
            </a:r>
          </a:p>
          <a:p>
            <a:r>
              <a:rPr lang="en-GB" b="1" dirty="0"/>
              <a:t>Sequence: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b="1" dirty="0" err="1"/>
              <a:t>मोर</a:t>
            </a:r>
            <a:r>
              <a:rPr lang="en-GB" dirty="0"/>
              <a:t> appears.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peacock image appears.</a:t>
            </a:r>
          </a:p>
          <a:p>
            <a:pPr>
              <a:buFont typeface="+mj-lt"/>
              <a:buAutoNum type="arabicPeriod"/>
            </a:pPr>
            <a:r>
              <a:rPr lang="en-GB" dirty="0"/>
              <a:t>VO: </a:t>
            </a:r>
            <a:r>
              <a:rPr lang="en-GB" b="1" dirty="0"/>
              <a:t>“</a:t>
            </a:r>
            <a:r>
              <a:rPr lang="en-GB" b="1" dirty="0" err="1"/>
              <a:t>मोर</a:t>
            </a:r>
            <a:r>
              <a:rPr lang="en-GB" b="1" dirty="0"/>
              <a:t> — </a:t>
            </a:r>
            <a:r>
              <a:rPr lang="en-GB" b="1" dirty="0" err="1"/>
              <a:t>बोलकर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Pause briefly so the child can repeat the word.</a:t>
            </a:r>
          </a:p>
          <a:p>
            <a:pPr>
              <a:buFont typeface="+mj-lt"/>
              <a:buAutoNum type="arabicPeriod"/>
            </a:pPr>
            <a:r>
              <a:rPr lang="en-GB" dirty="0"/>
              <a:t>VO: </a:t>
            </a:r>
            <a:r>
              <a:rPr lang="en-GB" b="1" dirty="0"/>
              <a:t>“</a:t>
            </a:r>
            <a:r>
              <a:rPr lang="en-GB" b="1" dirty="0" err="1"/>
              <a:t>इसमें</a:t>
            </a:r>
            <a:r>
              <a:rPr lang="en-GB" b="1" dirty="0"/>
              <a:t> म </a:t>
            </a:r>
            <a:r>
              <a:rPr lang="en-GB" b="1" dirty="0" err="1"/>
              <a:t>पर</a:t>
            </a:r>
            <a:r>
              <a:rPr lang="en-GB" b="1" dirty="0"/>
              <a:t> 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लगी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Highlight only </a:t>
            </a:r>
            <a:r>
              <a:rPr lang="en-GB" b="1" dirty="0"/>
              <a:t>ो</a:t>
            </a:r>
            <a:r>
              <a:rPr lang="en-GB" dirty="0"/>
              <a:t> in </a:t>
            </a:r>
            <a:r>
              <a:rPr lang="en-GB" b="1" dirty="0" err="1"/>
              <a:t>मोर</a:t>
            </a:r>
            <a:r>
              <a:rPr lang="en-GB" dirty="0"/>
              <a:t>, synchronised with the explanation.</a:t>
            </a:r>
          </a:p>
          <a:p>
            <a:pPr>
              <a:buFont typeface="+mj-lt"/>
              <a:buAutoNum type="arabicPeriod"/>
            </a:pPr>
            <a:r>
              <a:rPr lang="en-GB" dirty="0"/>
              <a:t>Fade out the first example.</a:t>
            </a:r>
          </a:p>
          <a:p>
            <a:pPr>
              <a:buFont typeface="+mj-lt"/>
              <a:buAutoNum type="arabicPeriod"/>
            </a:pPr>
            <a:r>
              <a:rPr lang="en-GB" b="1" dirty="0" err="1"/>
              <a:t>कोयल</a:t>
            </a:r>
            <a:r>
              <a:rPr lang="en-GB" dirty="0"/>
              <a:t> appears.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</a:t>
            </a:r>
            <a:r>
              <a:rPr lang="en-GB" dirty="0" err="1"/>
              <a:t>koel</a:t>
            </a:r>
            <a:r>
              <a:rPr lang="en-GB" dirty="0"/>
              <a:t> image appears.</a:t>
            </a:r>
          </a:p>
          <a:p>
            <a:pPr>
              <a:buFont typeface="+mj-lt"/>
              <a:buAutoNum type="arabicPeriod"/>
            </a:pPr>
            <a:r>
              <a:rPr lang="en-GB" dirty="0"/>
              <a:t>VO: </a:t>
            </a:r>
            <a:r>
              <a:rPr lang="en-GB" b="1" dirty="0"/>
              <a:t>“</a:t>
            </a:r>
            <a:r>
              <a:rPr lang="en-GB" b="1" dirty="0" err="1"/>
              <a:t>कोयल</a:t>
            </a:r>
            <a:r>
              <a:rPr lang="en-GB" b="1" dirty="0"/>
              <a:t> — </a:t>
            </a:r>
            <a:r>
              <a:rPr lang="en-GB" b="1" dirty="0" err="1"/>
              <a:t>बोलकर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Pause briefly so the child can repeat the word.</a:t>
            </a:r>
          </a:p>
          <a:p>
            <a:pPr>
              <a:buFont typeface="+mj-lt"/>
              <a:buAutoNum type="arabicPeriod"/>
            </a:pPr>
            <a:r>
              <a:rPr lang="en-GB" dirty="0"/>
              <a:t>VO: </a:t>
            </a:r>
            <a:r>
              <a:rPr lang="en-GB" b="1" dirty="0"/>
              <a:t>“</a:t>
            </a:r>
            <a:r>
              <a:rPr lang="en-GB" b="1" dirty="0" err="1"/>
              <a:t>इसमें</a:t>
            </a:r>
            <a:r>
              <a:rPr lang="en-GB" b="1" dirty="0"/>
              <a:t> क </a:t>
            </a:r>
            <a:r>
              <a:rPr lang="en-GB" b="1" dirty="0" err="1"/>
              <a:t>पर</a:t>
            </a:r>
            <a:r>
              <a:rPr lang="en-GB" b="1" dirty="0"/>
              <a:t> 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लगी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Highlight only </a:t>
            </a:r>
            <a:r>
              <a:rPr lang="en-GB" b="1" dirty="0"/>
              <a:t>ो</a:t>
            </a:r>
            <a:r>
              <a:rPr lang="en-GB" dirty="0"/>
              <a:t> in </a:t>
            </a:r>
            <a:r>
              <a:rPr lang="en-GB" b="1" dirty="0" err="1"/>
              <a:t>कोयल</a:t>
            </a:r>
            <a:r>
              <a:rPr lang="en-GB" dirty="0"/>
              <a:t>, synchronised with the explanation.</a:t>
            </a:r>
          </a:p>
          <a:p>
            <a:r>
              <a:rPr lang="en-GB" b="1" dirty="0"/>
              <a:t>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 word first, followed by its image.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simple </a:t>
            </a:r>
            <a:r>
              <a:rPr lang="en-GB" b="1" dirty="0"/>
              <a:t>fade/pop-in animations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When the VO explains the </a:t>
            </a:r>
            <a:r>
              <a:rPr lang="en-GB" dirty="0" err="1"/>
              <a:t>matra</a:t>
            </a:r>
            <a:r>
              <a:rPr lang="en-GB" dirty="0"/>
              <a:t>, softly highlight the complete </a:t>
            </a:r>
            <a:r>
              <a:rPr lang="en-GB" b="1" dirty="0"/>
              <a:t>ो </a:t>
            </a:r>
            <a:r>
              <a:rPr lang="en-GB" b="1" dirty="0" err="1"/>
              <a:t>मात्रा</a:t>
            </a:r>
            <a:r>
              <a:rPr lang="en-GB" dirty="0"/>
              <a:t> in red, including its upper stroke and right-side vertical stroke.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consonants and headline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Complete one example before introducing the next.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a soft pop when the word or image appears.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a soft chime when the </a:t>
            </a:r>
            <a:r>
              <a:rPr lang="en-GB" dirty="0" err="1"/>
              <a:t>matra</a:t>
            </a:r>
            <a:r>
              <a:rPr lang="en-GB" dirty="0"/>
              <a:t> highlights.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SFX subtle so the VO and pronunciation remain clear.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</a:t>
            </a:r>
            <a:r>
              <a:rPr lang="en-GB" b="1" dirty="0" err="1"/>
              <a:t>आगे</a:t>
            </a:r>
            <a:r>
              <a:rPr lang="en-GB" dirty="0"/>
              <a:t> button disabled during the explanation.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both examples and their VO sequences finish.</a:t>
            </a:r>
          </a:p>
          <a:p>
            <a:r>
              <a:rPr lang="en-GB" b="1" dirty="0"/>
              <a:t>Note: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Preserve the correct spellings: </a:t>
            </a:r>
            <a:r>
              <a:rPr lang="en-GB" b="1" dirty="0" err="1"/>
              <a:t>मोर</a:t>
            </a:r>
            <a:r>
              <a:rPr lang="en-GB" dirty="0"/>
              <a:t> and </a:t>
            </a:r>
            <a:r>
              <a:rPr lang="en-GB" b="1" dirty="0" err="1"/>
              <a:t>कोयल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</a:t>
            </a:r>
            <a:r>
              <a:rPr lang="en-GB" b="1" dirty="0"/>
              <a:t>ो</a:t>
            </a:r>
            <a:r>
              <a:rPr lang="en-GB" dirty="0"/>
              <a:t>, keeping the rest of each word in the regular text colour.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learning focus is recognising </a:t>
            </a:r>
            <a:r>
              <a:rPr lang="en-GB" b="1" dirty="0"/>
              <a:t>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dirty="0"/>
              <a:t> in both words: </a:t>
            </a:r>
            <a:r>
              <a:rPr lang="en-GB" b="1" dirty="0" err="1"/>
              <a:t>मोर</a:t>
            </a:r>
            <a:r>
              <a:rPr lang="en-GB" b="1" dirty="0"/>
              <a:t>, </a:t>
            </a:r>
            <a:r>
              <a:rPr lang="en-GB" b="1" dirty="0" err="1"/>
              <a:t>कोयल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आइए</a:t>
            </a:r>
            <a:r>
              <a:rPr lang="en-GB" b="1" dirty="0"/>
              <a:t>, </a:t>
            </a:r>
            <a:r>
              <a:rPr lang="en-GB" b="1" dirty="0" err="1"/>
              <a:t>देखें</a:t>
            </a:r>
            <a:r>
              <a:rPr lang="en-GB" b="1" dirty="0"/>
              <a:t> </a:t>
            </a:r>
            <a:r>
              <a:rPr lang="en-GB" b="1" dirty="0" err="1"/>
              <a:t>कि</a:t>
            </a:r>
            <a:r>
              <a:rPr lang="en-GB" b="1" dirty="0"/>
              <a:t> औ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लगने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आवाज़</a:t>
            </a:r>
            <a:r>
              <a:rPr lang="en-GB" b="1" dirty="0"/>
              <a:t> </a:t>
            </a:r>
            <a:r>
              <a:rPr lang="en-GB" b="1" dirty="0" err="1"/>
              <a:t>कैसे</a:t>
            </a:r>
            <a:r>
              <a:rPr lang="en-GB" b="1" dirty="0"/>
              <a:t> </a:t>
            </a:r>
            <a:r>
              <a:rPr lang="en-GB" b="1" dirty="0" err="1"/>
              <a:t>बदलती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 err="1"/>
              <a:t>पहले</a:t>
            </a:r>
            <a:r>
              <a:rPr lang="en-GB" dirty="0"/>
              <a:t>:</a:t>
            </a:r>
          </a:p>
          <a:p>
            <a:r>
              <a:rPr lang="en-GB" b="1" dirty="0"/>
              <a:t>“</a:t>
            </a:r>
            <a:r>
              <a:rPr lang="en-GB" b="1" dirty="0" err="1"/>
              <a:t>यह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 — </a:t>
            </a:r>
            <a:r>
              <a:rPr lang="en-GB" b="1" dirty="0" err="1"/>
              <a:t>खिलना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 err="1"/>
              <a:t>फिर</a:t>
            </a:r>
            <a:r>
              <a:rPr lang="en-GB" dirty="0"/>
              <a:t>:</a:t>
            </a:r>
          </a:p>
          <a:p>
            <a:r>
              <a:rPr lang="en-GB" b="1" dirty="0"/>
              <a:t>“ल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साथ</a:t>
            </a:r>
            <a:r>
              <a:rPr lang="en-GB" b="1" dirty="0"/>
              <a:t> औ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लौ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 err="1"/>
              <a:t>अंत</a:t>
            </a:r>
            <a:r>
              <a:rPr lang="en-GB" dirty="0"/>
              <a:t> </a:t>
            </a:r>
            <a:r>
              <a:rPr lang="en-GB" dirty="0" err="1"/>
              <a:t>में</a:t>
            </a:r>
            <a:r>
              <a:rPr lang="en-GB" dirty="0"/>
              <a:t>:</a:t>
            </a:r>
          </a:p>
          <a:p>
            <a:r>
              <a:rPr lang="en-GB" b="1" dirty="0"/>
              <a:t>“</a:t>
            </a:r>
            <a:r>
              <a:rPr lang="en-GB" b="1" dirty="0" err="1"/>
              <a:t>अब</a:t>
            </a:r>
            <a:r>
              <a:rPr lang="en-GB" b="1" dirty="0"/>
              <a:t> ‘</a:t>
            </a:r>
            <a:r>
              <a:rPr lang="en-GB" b="1" dirty="0" err="1"/>
              <a:t>खि</a:t>
            </a:r>
            <a:r>
              <a:rPr lang="en-GB" b="1" dirty="0"/>
              <a:t>’, ‘</a:t>
            </a:r>
            <a:r>
              <a:rPr lang="en-GB" b="1" dirty="0" err="1"/>
              <a:t>लौ</a:t>
            </a:r>
            <a:r>
              <a:rPr lang="en-GB" b="1" dirty="0"/>
              <a:t>’ </a:t>
            </a:r>
            <a:r>
              <a:rPr lang="en-GB" b="1" dirty="0" err="1"/>
              <a:t>और</a:t>
            </a:r>
            <a:r>
              <a:rPr lang="en-GB" b="1" dirty="0"/>
              <a:t> ‘</a:t>
            </a:r>
            <a:r>
              <a:rPr lang="en-GB" b="1" dirty="0" err="1"/>
              <a:t>ना</a:t>
            </a:r>
            <a:r>
              <a:rPr lang="en-GB" b="1" dirty="0"/>
              <a:t>’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जोड़ने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खिलौना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screen focused on </a:t>
            </a:r>
            <a:r>
              <a:rPr lang="en-GB" b="1" dirty="0"/>
              <a:t>one word transformation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First show </a:t>
            </a:r>
            <a:r>
              <a:rPr lang="en-GB" b="1" dirty="0" err="1"/>
              <a:t>खिलना</a:t>
            </a:r>
            <a:r>
              <a:rPr lang="en-GB" dirty="0"/>
              <a:t> clearly on the left.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Below or beside </a:t>
            </a:r>
            <a:r>
              <a:rPr lang="en-GB" b="1" dirty="0" err="1"/>
              <a:t>खिलना</a:t>
            </a:r>
            <a:r>
              <a:rPr lang="en-GB" dirty="0"/>
              <a:t>, show a </a:t>
            </a:r>
            <a:r>
              <a:rPr lang="en-GB" b="1" dirty="0"/>
              <a:t>flower bud opening into a flower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 the centre, show: </a:t>
            </a:r>
            <a:r>
              <a:rPr lang="en-GB" b="1" dirty="0"/>
              <a:t>ल + ◌ौ = </a:t>
            </a:r>
            <a:r>
              <a:rPr lang="en-GB" b="1" dirty="0" err="1"/>
              <a:t>लौ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the </a:t>
            </a:r>
            <a:r>
              <a:rPr lang="en-GB" b="1" dirty="0"/>
              <a:t>ौ </a:t>
            </a:r>
            <a:r>
              <a:rPr lang="en-GB" b="1" dirty="0" err="1"/>
              <a:t>मात्रा</a:t>
            </a:r>
            <a:r>
              <a:rPr lang="en-GB" dirty="0"/>
              <a:t> in red when it is introduced.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that, show the final word: </a:t>
            </a:r>
            <a:r>
              <a:rPr lang="en-GB" b="1" dirty="0" err="1"/>
              <a:t>खिलौना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 </a:t>
            </a:r>
            <a:r>
              <a:rPr lang="en-GB" b="1" dirty="0" err="1"/>
              <a:t>खिलौना</a:t>
            </a:r>
            <a:r>
              <a:rPr lang="en-GB" dirty="0"/>
              <a:t>, highlight only </a:t>
            </a:r>
            <a:r>
              <a:rPr lang="en-GB" b="1" dirty="0"/>
              <a:t>ौ</a:t>
            </a:r>
            <a:r>
              <a:rPr lang="en-GB" dirty="0"/>
              <a:t> in red so the child notices its position above and to the right of </a:t>
            </a:r>
            <a:r>
              <a:rPr lang="en-GB" b="1" dirty="0"/>
              <a:t>ल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clear </a:t>
            </a:r>
            <a:r>
              <a:rPr lang="en-GB" b="1" dirty="0"/>
              <a:t>toy image</a:t>
            </a:r>
            <a:r>
              <a:rPr lang="en-GB" dirty="0"/>
              <a:t> below or beside </a:t>
            </a:r>
            <a:r>
              <a:rPr lang="en-GB" b="1" dirty="0" err="1"/>
              <a:t>खिलौना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screen clean. Avoid unnecessary explanatory text beneath the cards.</a:t>
            </a:r>
          </a:p>
          <a:p>
            <a:r>
              <a:rPr lang="en-GB" b="1" dirty="0"/>
              <a:t>Image Requirements: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खिलना</a:t>
            </a:r>
            <a:r>
              <a:rPr lang="en-GB" b="1" dirty="0"/>
              <a:t>:</a:t>
            </a:r>
            <a:r>
              <a:rPr lang="en-GB" dirty="0"/>
              <a:t> A flower bud opening into a flower. Show the opening action clearly through a short animation, rather than only a fully open flower.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खिलौना</a:t>
            </a:r>
            <a:r>
              <a:rPr lang="en-GB" b="1" dirty="0"/>
              <a:t>:</a:t>
            </a:r>
            <a:r>
              <a:rPr lang="en-GB" dirty="0"/>
              <a:t> A recognisable pull-along toy duck with visible wheels and a string, matching the attached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a consistent, child-friendly illustration style.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each image associated with its word. Do not animate the flower changing into a toy.</a:t>
            </a:r>
          </a:p>
          <a:p>
            <a:r>
              <a:rPr lang="en-GB" b="1" dirty="0"/>
              <a:t>Sequence: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b="1" dirty="0" err="1"/>
              <a:t>खिलना</a:t>
            </a:r>
            <a:r>
              <a:rPr lang="en-GB" dirty="0"/>
              <a:t> appears on the left.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flower-bud image appears below or beside it.</a:t>
            </a:r>
          </a:p>
          <a:p>
            <a:pPr>
              <a:buFont typeface="+mj-lt"/>
              <a:buAutoNum type="arabicPeriod"/>
            </a:pPr>
            <a:r>
              <a:rPr lang="en-GB" dirty="0"/>
              <a:t>VO: </a:t>
            </a:r>
            <a:r>
              <a:rPr lang="en-GB" b="1" dirty="0"/>
              <a:t>“</a:t>
            </a:r>
            <a:r>
              <a:rPr lang="en-GB" b="1" dirty="0" err="1"/>
              <a:t>यह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 — </a:t>
            </a:r>
            <a:r>
              <a:rPr lang="en-GB" b="1" dirty="0" err="1"/>
              <a:t>खिलना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Briefly animate the bud opening into a flower.</a:t>
            </a:r>
          </a:p>
          <a:p>
            <a:pPr>
              <a:buFont typeface="+mj-lt"/>
              <a:buAutoNum type="arabicPeriod"/>
            </a:pPr>
            <a:r>
              <a:rPr lang="en-GB" dirty="0"/>
              <a:t>Highlight </a:t>
            </a:r>
            <a:r>
              <a:rPr lang="en-GB" b="1" dirty="0"/>
              <a:t>ल</a:t>
            </a:r>
            <a:r>
              <a:rPr lang="en-GB" dirty="0"/>
              <a:t> in </a:t>
            </a:r>
            <a:r>
              <a:rPr lang="en-GB" b="1" dirty="0" err="1"/>
              <a:t>खिलना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Show </a:t>
            </a:r>
            <a:r>
              <a:rPr lang="en-GB" b="1" dirty="0"/>
              <a:t>ल + ◌ौ = </a:t>
            </a:r>
            <a:r>
              <a:rPr lang="en-GB" b="1" dirty="0" err="1"/>
              <a:t>लौ</a:t>
            </a:r>
            <a:r>
              <a:rPr lang="en-GB" dirty="0"/>
              <a:t> in the centre.</a:t>
            </a:r>
          </a:p>
          <a:p>
            <a:pPr>
              <a:buFont typeface="+mj-lt"/>
              <a:buAutoNum type="arabicPeriod"/>
            </a:pPr>
            <a:r>
              <a:rPr lang="en-GB" dirty="0"/>
              <a:t>VO: </a:t>
            </a:r>
            <a:r>
              <a:rPr lang="en-GB" b="1" dirty="0"/>
              <a:t>“ल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साथ</a:t>
            </a:r>
            <a:r>
              <a:rPr lang="en-GB" b="1" dirty="0"/>
              <a:t> औ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लौ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Move </a:t>
            </a:r>
            <a:r>
              <a:rPr lang="en-GB" b="1" dirty="0"/>
              <a:t>ौ</a:t>
            </a:r>
            <a:r>
              <a:rPr lang="en-GB" dirty="0"/>
              <a:t> into its correct position above and to the right of </a:t>
            </a:r>
            <a:r>
              <a:rPr lang="en-GB" b="1" dirty="0"/>
              <a:t>ल</a:t>
            </a:r>
            <a:r>
              <a:rPr lang="en-GB" dirty="0"/>
              <a:t>, forming </a:t>
            </a:r>
            <a:r>
              <a:rPr lang="en-GB" b="1" dirty="0" err="1"/>
              <a:t>लौ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Bring </a:t>
            </a:r>
            <a:r>
              <a:rPr lang="en-GB" b="1" dirty="0" err="1"/>
              <a:t>खि</a:t>
            </a:r>
            <a:r>
              <a:rPr lang="en-GB" dirty="0"/>
              <a:t> before </a:t>
            </a:r>
            <a:r>
              <a:rPr lang="en-GB" b="1" dirty="0" err="1"/>
              <a:t>लौ</a:t>
            </a:r>
            <a:r>
              <a:rPr lang="en-GB" dirty="0"/>
              <a:t> and </a:t>
            </a:r>
            <a:r>
              <a:rPr lang="en-GB" b="1" dirty="0" err="1"/>
              <a:t>ना</a:t>
            </a:r>
            <a:r>
              <a:rPr lang="en-GB" dirty="0"/>
              <a:t> after it.</a:t>
            </a:r>
          </a:p>
          <a:p>
            <a:pPr>
              <a:buFont typeface="+mj-lt"/>
              <a:buAutoNum type="arabicPeriod"/>
            </a:pPr>
            <a:r>
              <a:rPr lang="en-GB" dirty="0"/>
              <a:t>VO: </a:t>
            </a:r>
            <a:r>
              <a:rPr lang="en-GB" b="1" dirty="0"/>
              <a:t>“</a:t>
            </a:r>
            <a:r>
              <a:rPr lang="en-GB" b="1" dirty="0" err="1"/>
              <a:t>अब</a:t>
            </a:r>
            <a:r>
              <a:rPr lang="en-GB" b="1" dirty="0"/>
              <a:t> ‘</a:t>
            </a:r>
            <a:r>
              <a:rPr lang="en-GB" b="1" dirty="0" err="1"/>
              <a:t>खि</a:t>
            </a:r>
            <a:r>
              <a:rPr lang="en-GB" b="1" dirty="0"/>
              <a:t>’, ‘</a:t>
            </a:r>
            <a:r>
              <a:rPr lang="en-GB" b="1" dirty="0" err="1"/>
              <a:t>लौ</a:t>
            </a:r>
            <a:r>
              <a:rPr lang="en-GB" b="1" dirty="0"/>
              <a:t>’ </a:t>
            </a:r>
            <a:r>
              <a:rPr lang="en-GB" b="1" dirty="0" err="1"/>
              <a:t>और</a:t>
            </a:r>
            <a:r>
              <a:rPr lang="en-GB" b="1" dirty="0"/>
              <a:t> ‘</a:t>
            </a:r>
            <a:r>
              <a:rPr lang="en-GB" b="1" dirty="0" err="1"/>
              <a:t>ना</a:t>
            </a:r>
            <a:r>
              <a:rPr lang="en-GB" b="1" dirty="0"/>
              <a:t>’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जोड़ने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खिलौना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Show: </a:t>
            </a:r>
            <a:r>
              <a:rPr lang="en-GB" b="1" dirty="0" err="1"/>
              <a:t>खि</a:t>
            </a:r>
            <a:r>
              <a:rPr lang="en-GB" b="1" dirty="0"/>
              <a:t> + </a:t>
            </a:r>
            <a:r>
              <a:rPr lang="en-GB" b="1" dirty="0" err="1"/>
              <a:t>लौ</a:t>
            </a:r>
            <a:r>
              <a:rPr lang="en-GB" b="1" dirty="0"/>
              <a:t> + </a:t>
            </a:r>
            <a:r>
              <a:rPr lang="en-GB" b="1" dirty="0" err="1"/>
              <a:t>ना</a:t>
            </a:r>
            <a:r>
              <a:rPr lang="en-GB" b="1" dirty="0"/>
              <a:t> = </a:t>
            </a:r>
            <a:r>
              <a:rPr lang="en-GB" b="1" dirty="0" err="1"/>
              <a:t>खिलौना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Highlight only </a:t>
            </a:r>
            <a:r>
              <a:rPr lang="en-GB" b="1" dirty="0"/>
              <a:t>ौ</a:t>
            </a:r>
            <a:r>
              <a:rPr lang="en-GB" dirty="0"/>
              <a:t> inside </a:t>
            </a:r>
            <a:r>
              <a:rPr lang="en-GB" b="1" dirty="0" err="1"/>
              <a:t>खिलौना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toy image appears below or beside </a:t>
            </a:r>
            <a:r>
              <a:rPr lang="en-GB" b="1" dirty="0" err="1"/>
              <a:t>खिलौना</a:t>
            </a:r>
            <a:r>
              <a:rPr lang="en-GB" dirty="0"/>
              <a:t>.</a:t>
            </a:r>
          </a:p>
          <a:p>
            <a:r>
              <a:rPr lang="en-GB" b="1" dirty="0"/>
              <a:t>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a simple step-by-step animation.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all stages together at the beginning.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First reveal </a:t>
            </a:r>
            <a:r>
              <a:rPr lang="en-GB" b="1" dirty="0" err="1"/>
              <a:t>खिलना</a:t>
            </a:r>
            <a:r>
              <a:rPr lang="en-GB" dirty="0"/>
              <a:t> and its flower-bud image with a soft fade.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Briefly animate the bud opening when </a:t>
            </a:r>
            <a:r>
              <a:rPr lang="en-GB" b="1" dirty="0" err="1"/>
              <a:t>खिलना</a:t>
            </a:r>
            <a:r>
              <a:rPr lang="en-GB" dirty="0"/>
              <a:t> is introduced.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Then shift attention to </a:t>
            </a:r>
            <a:r>
              <a:rPr lang="en-GB" b="1" dirty="0"/>
              <a:t>ल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ौ </a:t>
            </a:r>
            <a:r>
              <a:rPr lang="en-GB" b="1" dirty="0" err="1"/>
              <a:t>मात्रा</a:t>
            </a:r>
            <a:r>
              <a:rPr lang="en-GB" dirty="0"/>
              <a:t> should softly slide into its correct position around </a:t>
            </a:r>
            <a:r>
              <a:rPr lang="en-GB" b="1" dirty="0"/>
              <a:t>ल</a:t>
            </a:r>
            <a:r>
              <a:rPr lang="en-GB" dirty="0"/>
              <a:t>, synchronised with the VO.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Visually transform </a:t>
            </a:r>
            <a:r>
              <a:rPr lang="en-GB" b="1" dirty="0"/>
              <a:t>ल → </a:t>
            </a:r>
            <a:r>
              <a:rPr lang="en-GB" b="1" dirty="0" err="1"/>
              <a:t>लौ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Then </a:t>
            </a:r>
            <a:r>
              <a:rPr lang="en-GB" b="1" dirty="0" err="1"/>
              <a:t>खि</a:t>
            </a:r>
            <a:r>
              <a:rPr lang="en-GB" dirty="0"/>
              <a:t> and </a:t>
            </a:r>
            <a:r>
              <a:rPr lang="en-GB" b="1" dirty="0" err="1"/>
              <a:t>ना</a:t>
            </a:r>
            <a:r>
              <a:rPr lang="en-GB" dirty="0"/>
              <a:t> slide into position to form </a:t>
            </a:r>
            <a:r>
              <a:rPr lang="en-GB" b="1" dirty="0" err="1"/>
              <a:t>खि</a:t>
            </a:r>
            <a:r>
              <a:rPr lang="en-GB" b="1" dirty="0"/>
              <a:t> + </a:t>
            </a:r>
            <a:r>
              <a:rPr lang="en-GB" b="1" dirty="0" err="1"/>
              <a:t>लौ</a:t>
            </a:r>
            <a:r>
              <a:rPr lang="en-GB" b="1" dirty="0"/>
              <a:t> + </a:t>
            </a:r>
            <a:r>
              <a:rPr lang="en-GB" b="1" dirty="0" err="1"/>
              <a:t>ना</a:t>
            </a:r>
            <a:r>
              <a:rPr lang="en-GB" b="1" dirty="0"/>
              <a:t> = </a:t>
            </a:r>
            <a:r>
              <a:rPr lang="en-GB" b="1" dirty="0" err="1"/>
              <a:t>खिलौना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Reveal the toy image only after </a:t>
            </a:r>
            <a:r>
              <a:rPr lang="en-GB" b="1" dirty="0" err="1"/>
              <a:t>खिलौना</a:t>
            </a:r>
            <a:r>
              <a:rPr lang="en-GB" dirty="0"/>
              <a:t> is complete.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animations subtle and child-friendly.</a:t>
            </a:r>
          </a:p>
          <a:p>
            <a:r>
              <a:rPr lang="en-GB" b="1" dirty="0"/>
              <a:t>Sound Differentiation:</a:t>
            </a:r>
            <a:endParaRPr lang="en-GB" dirty="0"/>
          </a:p>
          <a:p>
            <a:r>
              <a:rPr lang="en-GB" dirty="0"/>
              <a:t>Make the pronunciation difference clear:</a:t>
            </a:r>
          </a:p>
          <a:p>
            <a:r>
              <a:rPr lang="en-GB" b="1" dirty="0"/>
              <a:t>ल → </a:t>
            </a:r>
            <a:r>
              <a:rPr lang="en-GB" b="1" dirty="0" err="1"/>
              <a:t>लौ</a:t>
            </a:r>
            <a:endParaRPr lang="en-GB" dirty="0"/>
          </a:p>
          <a:p>
            <a:r>
              <a:rPr lang="en-GB" dirty="0"/>
              <a:t>Then read the complete word:</a:t>
            </a:r>
          </a:p>
          <a:p>
            <a:r>
              <a:rPr lang="en-GB" b="1" dirty="0" err="1"/>
              <a:t>खिलौना</a:t>
            </a:r>
            <a:endParaRPr lang="en-GB" dirty="0"/>
          </a:p>
          <a:p>
            <a:r>
              <a:rPr lang="en-GB" dirty="0"/>
              <a:t>Give a short pause between the sounds so the child can hear how adding </a:t>
            </a:r>
            <a:r>
              <a:rPr lang="en-GB" b="1" dirty="0"/>
              <a:t>ौ</a:t>
            </a:r>
            <a:r>
              <a:rPr lang="en-GB" dirty="0"/>
              <a:t> changes </a:t>
            </a:r>
            <a:r>
              <a:rPr lang="en-GB" b="1" dirty="0"/>
              <a:t>ल</a:t>
            </a:r>
            <a:r>
              <a:rPr lang="en-GB" dirty="0"/>
              <a:t> to </a:t>
            </a:r>
            <a:r>
              <a:rPr lang="en-GB" b="1" dirty="0" err="1"/>
              <a:t>लौ</a:t>
            </a:r>
            <a:r>
              <a:rPr lang="en-GB" dirty="0"/>
              <a:t>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a soft pop when each image or the </a:t>
            </a:r>
            <a:r>
              <a:rPr lang="en-GB" dirty="0" err="1"/>
              <a:t>matra</a:t>
            </a:r>
            <a:r>
              <a:rPr lang="en-GB" dirty="0"/>
              <a:t> appears.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a light chime when </a:t>
            </a:r>
            <a:r>
              <a:rPr lang="en-GB" b="1" dirty="0"/>
              <a:t>ल</a:t>
            </a:r>
            <a:r>
              <a:rPr lang="en-GB" dirty="0"/>
              <a:t> changes to </a:t>
            </a:r>
            <a:r>
              <a:rPr lang="en-GB" b="1" dirty="0" err="1"/>
              <a:t>लौ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a small success sound when </a:t>
            </a:r>
            <a:r>
              <a:rPr lang="en-GB" b="1" dirty="0" err="1"/>
              <a:t>खिलौना</a:t>
            </a:r>
            <a:r>
              <a:rPr lang="en-GB" dirty="0"/>
              <a:t> is completed.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SFX subtle so the pronunciation remains clear.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</a:t>
            </a:r>
            <a:r>
              <a:rPr lang="en-GB" b="1" dirty="0" err="1"/>
              <a:t>आगे</a:t>
            </a:r>
            <a:r>
              <a:rPr lang="en-GB" dirty="0"/>
              <a:t> button disabled during the complete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</a:t>
            </a:r>
            <a:r>
              <a:rPr lang="en-GB" b="1" dirty="0" err="1"/>
              <a:t>खिलना</a:t>
            </a:r>
            <a:r>
              <a:rPr lang="en-GB" dirty="0"/>
              <a:t> and its image have been introduced, the word transformation has been demonstrated, and the toy image has appeared.</a:t>
            </a:r>
          </a:p>
          <a:p>
            <a:r>
              <a:rPr lang="en-GB" b="1" dirty="0"/>
              <a:t>Note: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Use: </a:t>
            </a:r>
            <a:r>
              <a:rPr lang="en-GB" b="1" dirty="0"/>
              <a:t>“ल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साथ</a:t>
            </a:r>
            <a:r>
              <a:rPr lang="en-GB" b="1" dirty="0"/>
              <a:t> औ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लौ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Refer to it as </a:t>
            </a:r>
            <a:r>
              <a:rPr lang="en-GB" b="1" dirty="0"/>
              <a:t>औ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dirty="0"/>
              <a:t>, without “</a:t>
            </a:r>
            <a:r>
              <a:rPr lang="en-GB" dirty="0" err="1"/>
              <a:t>छोटी</a:t>
            </a:r>
            <a:r>
              <a:rPr lang="en-GB" dirty="0"/>
              <a:t>” or “</a:t>
            </a:r>
            <a:r>
              <a:rPr lang="en-GB" dirty="0" err="1"/>
              <a:t>बड़ी</a:t>
            </a:r>
            <a:r>
              <a:rPr lang="en-GB" dirty="0"/>
              <a:t>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the complete </a:t>
            </a:r>
            <a:r>
              <a:rPr lang="en-GB" b="1" dirty="0"/>
              <a:t>ौ </a:t>
            </a:r>
            <a:r>
              <a:rPr lang="en-GB" b="1" dirty="0" err="1"/>
              <a:t>मात्रा</a:t>
            </a:r>
            <a:r>
              <a:rPr lang="en-GB" dirty="0"/>
              <a:t>, including both upper strokes and the right-side vertical stroke,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consonants, headline and existing </a:t>
            </a:r>
            <a:r>
              <a:rPr lang="en-GB" b="1" dirty="0"/>
              <a:t>ि</a:t>
            </a:r>
            <a:r>
              <a:rPr lang="en-GB" dirty="0"/>
              <a:t> and </a:t>
            </a:r>
            <a:r>
              <a:rPr lang="en-GB" b="1" dirty="0"/>
              <a:t>ा</a:t>
            </a:r>
            <a:r>
              <a:rPr lang="en-GB" dirty="0"/>
              <a:t> </a:t>
            </a:r>
            <a:r>
              <a:rPr lang="en-GB" dirty="0" err="1"/>
              <a:t>matras</a:t>
            </a:r>
            <a:r>
              <a:rPr lang="en-GB" dirty="0"/>
              <a:t>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dotted circle in </a:t>
            </a:r>
            <a:r>
              <a:rPr lang="en-GB" b="1" dirty="0"/>
              <a:t>◌ौ</a:t>
            </a:r>
            <a:r>
              <a:rPr lang="en-GB" dirty="0"/>
              <a:t> is a display aid. It should disappear when the </a:t>
            </a:r>
            <a:r>
              <a:rPr lang="en-GB" dirty="0" err="1"/>
              <a:t>matra</a:t>
            </a:r>
            <a:r>
              <a:rPr lang="en-GB" dirty="0"/>
              <a:t> joins </a:t>
            </a:r>
            <a:r>
              <a:rPr lang="en-GB" b="1" dirty="0"/>
              <a:t>ल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key visual learning should remain:</a:t>
            </a:r>
          </a:p>
          <a:p>
            <a:r>
              <a:rPr lang="en-GB" b="1" dirty="0" err="1"/>
              <a:t>खिलना</a:t>
            </a:r>
            <a:r>
              <a:rPr lang="en-GB" b="1" dirty="0"/>
              <a:t> (flower opening) → ल + ◌ौ = </a:t>
            </a:r>
            <a:r>
              <a:rPr lang="en-GB" b="1" dirty="0" err="1"/>
              <a:t>लौ</a:t>
            </a:r>
            <a:r>
              <a:rPr lang="en-GB" b="1" dirty="0"/>
              <a:t> → </a:t>
            </a:r>
            <a:r>
              <a:rPr lang="en-GB" b="1" dirty="0" err="1"/>
              <a:t>खिलौना</a:t>
            </a:r>
            <a:r>
              <a:rPr lang="en-GB" b="1" dirty="0"/>
              <a:t> (toy)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1" dirty="0"/>
              <a:t>Recommendation</a:t>
            </a:r>
            <a:endParaRPr lang="en-IN" dirty="0"/>
          </a:p>
          <a:p>
            <a:r>
              <a:rPr lang="en-IN" b="1" dirty="0"/>
              <a:t>VO:</a:t>
            </a:r>
            <a:endParaRPr lang="en-IN" dirty="0"/>
          </a:p>
          <a:p>
            <a:r>
              <a:rPr lang="en-IN" b="1" dirty="0"/>
              <a:t>“</a:t>
            </a:r>
            <a:r>
              <a:rPr lang="hi-IN" b="1" dirty="0"/>
              <a:t>आइए, औ की मात्रा वाले कुछ शब्द देखें।”</a:t>
            </a:r>
            <a:endParaRPr lang="hi-IN" dirty="0"/>
          </a:p>
          <a:p>
            <a:r>
              <a:rPr lang="hi-IN" dirty="0"/>
              <a:t>पहले:</a:t>
            </a:r>
          </a:p>
          <a:p>
            <a:r>
              <a:rPr lang="hi-IN" b="1" dirty="0"/>
              <a:t>“कौआ — बोलकर देखिए। इसमें क पर औ की मात्रा लगी है।”</a:t>
            </a:r>
            <a:endParaRPr lang="hi-IN" dirty="0"/>
          </a:p>
          <a:p>
            <a:r>
              <a:rPr lang="hi-IN" dirty="0"/>
              <a:t>फिर:</a:t>
            </a:r>
          </a:p>
          <a:p>
            <a:r>
              <a:rPr lang="hi-IN" b="1" dirty="0"/>
              <a:t>“पौधा — बोलकर देखिए। इसमें प पर औ की मात्रा लगी है।”</a:t>
            </a:r>
            <a:endParaRPr lang="hi-IN" dirty="0"/>
          </a:p>
          <a:p>
            <a:r>
              <a:rPr lang="en-IN" b="1" dirty="0"/>
              <a:t>On Screen: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the heading: </a:t>
            </a:r>
            <a:r>
              <a:rPr lang="en-IN" b="1" dirty="0"/>
              <a:t>“</a:t>
            </a:r>
            <a:r>
              <a:rPr lang="hi-IN" b="1" dirty="0"/>
              <a:t>औ की मात्रा वाले शब्द पढ़िए।”</a:t>
            </a:r>
            <a:endParaRPr lang="hi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only </a:t>
            </a:r>
            <a:r>
              <a:rPr lang="en-IN" b="1" dirty="0"/>
              <a:t>one example visible at a time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First show </a:t>
            </a:r>
            <a:r>
              <a:rPr lang="hi-IN" b="1" dirty="0"/>
              <a:t>कौआ</a:t>
            </a:r>
            <a:r>
              <a:rPr lang="hi-IN" dirty="0"/>
              <a:t>, </a:t>
            </a:r>
            <a:r>
              <a:rPr lang="en-IN" dirty="0"/>
              <a:t>followed by a clear </a:t>
            </a:r>
            <a:r>
              <a:rPr lang="en-IN" b="1" dirty="0"/>
              <a:t>crow image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Highlight only the </a:t>
            </a:r>
            <a:r>
              <a:rPr lang="hi-IN" b="1" dirty="0"/>
              <a:t>ौ मात्रा</a:t>
            </a:r>
            <a:r>
              <a:rPr lang="hi-IN" dirty="0"/>
              <a:t> </a:t>
            </a:r>
            <a:r>
              <a:rPr lang="en-IN" dirty="0"/>
              <a:t>attached to </a:t>
            </a:r>
            <a:r>
              <a:rPr lang="hi-IN" b="1" dirty="0"/>
              <a:t>क</a:t>
            </a:r>
            <a:r>
              <a:rPr lang="hi-IN" dirty="0"/>
              <a:t> </a:t>
            </a:r>
            <a:r>
              <a:rPr lang="en-IN" dirty="0"/>
              <a:t>in </a:t>
            </a:r>
            <a:r>
              <a:rPr lang="hi-IN" b="1" dirty="0"/>
              <a:t>कौआ</a:t>
            </a:r>
            <a:r>
              <a:rPr lang="hi-IN" dirty="0"/>
              <a:t>, </a:t>
            </a:r>
            <a:r>
              <a:rPr lang="en-IN" dirty="0"/>
              <a:t>using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After the first example finishes, show </a:t>
            </a:r>
            <a:r>
              <a:rPr lang="hi-IN" b="1" dirty="0"/>
              <a:t>पौधा</a:t>
            </a:r>
            <a:r>
              <a:rPr lang="hi-IN" dirty="0"/>
              <a:t>, </a:t>
            </a:r>
            <a:r>
              <a:rPr lang="en-IN" dirty="0"/>
              <a:t>followed by a clear </a:t>
            </a:r>
            <a:r>
              <a:rPr lang="en-IN" b="1" dirty="0"/>
              <a:t>plant image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Highlight only the </a:t>
            </a:r>
            <a:r>
              <a:rPr lang="hi-IN" b="1" dirty="0"/>
              <a:t>ौ मात्रा</a:t>
            </a:r>
            <a:r>
              <a:rPr lang="hi-IN" dirty="0"/>
              <a:t> </a:t>
            </a:r>
            <a:r>
              <a:rPr lang="en-IN" dirty="0"/>
              <a:t>attached to </a:t>
            </a:r>
            <a:r>
              <a:rPr lang="hi-IN" b="1" dirty="0"/>
              <a:t>प</a:t>
            </a:r>
            <a:r>
              <a:rPr lang="hi-IN" dirty="0"/>
              <a:t> </a:t>
            </a:r>
            <a:r>
              <a:rPr lang="en-IN" dirty="0"/>
              <a:t>in </a:t>
            </a:r>
            <a:r>
              <a:rPr lang="hi-IN" b="1" dirty="0"/>
              <a:t>पौधा</a:t>
            </a:r>
            <a:r>
              <a:rPr lang="hi-IN" dirty="0"/>
              <a:t>, </a:t>
            </a:r>
            <a:r>
              <a:rPr lang="en-IN" dirty="0"/>
              <a:t>using the same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</a:t>
            </a:r>
            <a:r>
              <a:rPr lang="hi-IN" b="1" dirty="0"/>
              <a:t>आ</a:t>
            </a:r>
            <a:r>
              <a:rPr lang="hi-IN" dirty="0"/>
              <a:t> </a:t>
            </a:r>
            <a:r>
              <a:rPr lang="en-IN" dirty="0"/>
              <a:t>in </a:t>
            </a:r>
            <a:r>
              <a:rPr lang="hi-IN" b="1" dirty="0"/>
              <a:t>कौआ</a:t>
            </a:r>
            <a:r>
              <a:rPr lang="hi-IN" dirty="0"/>
              <a:t> </a:t>
            </a:r>
            <a:r>
              <a:rPr lang="en-IN" dirty="0"/>
              <a:t>and the </a:t>
            </a:r>
            <a:r>
              <a:rPr lang="hi-IN" b="1" dirty="0"/>
              <a:t>ा मात्रा</a:t>
            </a:r>
            <a:r>
              <a:rPr lang="hi-IN" dirty="0"/>
              <a:t> </a:t>
            </a:r>
            <a:r>
              <a:rPr lang="en-IN" dirty="0"/>
              <a:t>in </a:t>
            </a:r>
            <a:r>
              <a:rPr lang="hi-IN" b="1" dirty="0"/>
              <a:t>पौधा</a:t>
            </a:r>
            <a:r>
              <a:rPr lang="hi-IN" dirty="0"/>
              <a:t> </a:t>
            </a:r>
            <a:r>
              <a:rPr lang="en-IN" dirty="0"/>
              <a:t>in the regular text colour.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the existing mascot and overall UI/UX style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If retaining the </a:t>
            </a:r>
            <a:r>
              <a:rPr lang="en-IN" b="1" dirty="0"/>
              <a:t>“</a:t>
            </a:r>
            <a:r>
              <a:rPr lang="hi-IN" b="1" dirty="0"/>
              <a:t>इस शब्द की मात्रा”</a:t>
            </a:r>
            <a:r>
              <a:rPr lang="hi-IN" dirty="0"/>
              <a:t> </a:t>
            </a:r>
            <a:r>
              <a:rPr lang="en-IN" dirty="0"/>
              <a:t>label, show </a:t>
            </a:r>
            <a:r>
              <a:rPr lang="en-IN" b="1" dirty="0"/>
              <a:t>◌</a:t>
            </a:r>
            <a:r>
              <a:rPr lang="hi-IN" b="1" dirty="0"/>
              <a:t>ौ</a:t>
            </a:r>
            <a:r>
              <a:rPr lang="hi-IN" dirty="0"/>
              <a:t> </a:t>
            </a:r>
            <a:r>
              <a:rPr lang="en-IN" dirty="0"/>
              <a:t>for both examples.</a:t>
            </a:r>
          </a:p>
          <a:p>
            <a:r>
              <a:rPr lang="en-IN" b="1" dirty="0"/>
              <a:t>Image Requirements: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hi-IN" b="1" dirty="0"/>
              <a:t>कौआ:</a:t>
            </a:r>
            <a:r>
              <a:rPr lang="hi-IN" dirty="0"/>
              <a:t> </a:t>
            </a:r>
            <a:r>
              <a:rPr lang="en-IN" dirty="0"/>
              <a:t>A recognisable crow with dark feathers, a clear beak, wings and visible feet.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i-IN" b="1" dirty="0"/>
              <a:t>पौधा:</a:t>
            </a:r>
            <a:r>
              <a:rPr lang="hi-IN" dirty="0"/>
              <a:t> </a:t>
            </a:r>
            <a:r>
              <a:rPr lang="en-IN" dirty="0"/>
              <a:t>A small green plant with a clearly visible stem and a few leaves, growing in soil.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 a consistent, child-friendly illustration style with minimal background detail.</a:t>
            </a:r>
          </a:p>
          <a:p>
            <a:r>
              <a:rPr lang="en-IN" b="1" dirty="0"/>
              <a:t>Sequence: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hi-IN" b="1" dirty="0"/>
              <a:t>कौआ</a:t>
            </a:r>
            <a:r>
              <a:rPr lang="hi-IN" dirty="0"/>
              <a:t> </a:t>
            </a:r>
            <a:r>
              <a:rPr lang="en-IN" dirty="0"/>
              <a:t>appears.</a:t>
            </a:r>
          </a:p>
          <a:p>
            <a:pPr>
              <a:buFont typeface="+mj-lt"/>
              <a:buAutoNum type="arabicPeriod"/>
            </a:pPr>
            <a:r>
              <a:rPr lang="en-IN" dirty="0"/>
              <a:t>The crow image appears.</a:t>
            </a:r>
          </a:p>
          <a:p>
            <a:pPr>
              <a:buFont typeface="+mj-lt"/>
              <a:buAutoNum type="arabicPeriod"/>
            </a:pPr>
            <a:r>
              <a:rPr lang="en-IN" dirty="0"/>
              <a:t>VO: </a:t>
            </a:r>
            <a:r>
              <a:rPr lang="en-IN" b="1" dirty="0"/>
              <a:t>“</a:t>
            </a:r>
            <a:r>
              <a:rPr lang="hi-IN" b="1" dirty="0"/>
              <a:t>कौआ — बोलकर देखिए।”</a:t>
            </a:r>
            <a:endParaRPr lang="hi-IN" dirty="0"/>
          </a:p>
          <a:p>
            <a:pPr>
              <a:buFont typeface="+mj-lt"/>
              <a:buAutoNum type="arabicPeriod"/>
            </a:pPr>
            <a:r>
              <a:rPr lang="en-IN" dirty="0"/>
              <a:t>Pause briefly so the child can repeat the word.</a:t>
            </a:r>
          </a:p>
          <a:p>
            <a:pPr>
              <a:buFont typeface="+mj-lt"/>
              <a:buAutoNum type="arabicPeriod"/>
            </a:pPr>
            <a:r>
              <a:rPr lang="en-IN" dirty="0"/>
              <a:t>VO: </a:t>
            </a:r>
            <a:r>
              <a:rPr lang="en-IN" b="1" dirty="0"/>
              <a:t>“</a:t>
            </a:r>
            <a:r>
              <a:rPr lang="hi-IN" b="1" dirty="0"/>
              <a:t>इसमें क पर औ की मात्रा लगी है।”</a:t>
            </a:r>
            <a:endParaRPr lang="hi-IN" dirty="0"/>
          </a:p>
          <a:p>
            <a:pPr>
              <a:buFont typeface="+mj-lt"/>
              <a:buAutoNum type="arabicPeriod"/>
            </a:pPr>
            <a:r>
              <a:rPr lang="en-IN" dirty="0"/>
              <a:t>Highlight only </a:t>
            </a:r>
            <a:r>
              <a:rPr lang="hi-IN" b="1" dirty="0"/>
              <a:t>ौ</a:t>
            </a:r>
            <a:r>
              <a:rPr lang="hi-IN" dirty="0"/>
              <a:t> </a:t>
            </a:r>
            <a:r>
              <a:rPr lang="en-IN" dirty="0"/>
              <a:t>in </a:t>
            </a:r>
            <a:r>
              <a:rPr lang="hi-IN" b="1" dirty="0"/>
              <a:t>कौआ</a:t>
            </a:r>
            <a:r>
              <a:rPr lang="hi-IN" dirty="0"/>
              <a:t>, </a:t>
            </a:r>
            <a:r>
              <a:rPr lang="en-IN" dirty="0"/>
              <a:t>synchronised with the explanation.</a:t>
            </a:r>
          </a:p>
          <a:p>
            <a:pPr>
              <a:buFont typeface="+mj-lt"/>
              <a:buAutoNum type="arabicPeriod"/>
            </a:pPr>
            <a:r>
              <a:rPr lang="en-IN" dirty="0"/>
              <a:t>Fade out the first example.</a:t>
            </a:r>
          </a:p>
          <a:p>
            <a:pPr>
              <a:buFont typeface="+mj-lt"/>
              <a:buAutoNum type="arabicPeriod"/>
            </a:pPr>
            <a:r>
              <a:rPr lang="hi-IN" b="1" dirty="0"/>
              <a:t>पौधा</a:t>
            </a:r>
            <a:r>
              <a:rPr lang="hi-IN" dirty="0"/>
              <a:t> </a:t>
            </a:r>
            <a:r>
              <a:rPr lang="en-IN" dirty="0"/>
              <a:t>appears.</a:t>
            </a:r>
          </a:p>
          <a:p>
            <a:pPr>
              <a:buFont typeface="+mj-lt"/>
              <a:buAutoNum type="arabicPeriod"/>
            </a:pPr>
            <a:r>
              <a:rPr lang="en-IN" dirty="0"/>
              <a:t>The plant image appears.</a:t>
            </a:r>
          </a:p>
          <a:p>
            <a:pPr>
              <a:buFont typeface="+mj-lt"/>
              <a:buAutoNum type="arabicPeriod"/>
            </a:pPr>
            <a:r>
              <a:rPr lang="en-IN" dirty="0"/>
              <a:t>VO: </a:t>
            </a:r>
            <a:r>
              <a:rPr lang="en-IN" b="1" dirty="0"/>
              <a:t>“</a:t>
            </a:r>
            <a:r>
              <a:rPr lang="hi-IN" b="1" dirty="0"/>
              <a:t>पौधा — बोलकर देखिए।”</a:t>
            </a:r>
            <a:endParaRPr lang="hi-IN" dirty="0"/>
          </a:p>
          <a:p>
            <a:pPr>
              <a:buFont typeface="+mj-lt"/>
              <a:buAutoNum type="arabicPeriod"/>
            </a:pPr>
            <a:r>
              <a:rPr lang="en-IN" dirty="0"/>
              <a:t>Pause briefly so the child can repeat the word.</a:t>
            </a:r>
          </a:p>
          <a:p>
            <a:pPr>
              <a:buFont typeface="+mj-lt"/>
              <a:buAutoNum type="arabicPeriod"/>
            </a:pPr>
            <a:r>
              <a:rPr lang="en-IN" dirty="0"/>
              <a:t>VO: </a:t>
            </a:r>
            <a:r>
              <a:rPr lang="en-IN" b="1" dirty="0"/>
              <a:t>“</a:t>
            </a:r>
            <a:r>
              <a:rPr lang="hi-IN" b="1" dirty="0"/>
              <a:t>इसमें प पर औ की मात्रा लगी है।”</a:t>
            </a:r>
            <a:endParaRPr lang="hi-IN" dirty="0"/>
          </a:p>
          <a:p>
            <a:pPr>
              <a:buFont typeface="+mj-lt"/>
              <a:buAutoNum type="arabicPeriod"/>
            </a:pPr>
            <a:r>
              <a:rPr lang="en-IN" dirty="0"/>
              <a:t>Highlight only </a:t>
            </a:r>
            <a:r>
              <a:rPr lang="hi-IN" b="1" dirty="0"/>
              <a:t>ौ</a:t>
            </a:r>
            <a:r>
              <a:rPr lang="hi-IN" dirty="0"/>
              <a:t> </a:t>
            </a:r>
            <a:r>
              <a:rPr lang="en-IN" dirty="0"/>
              <a:t>in </a:t>
            </a:r>
            <a:r>
              <a:rPr lang="hi-IN" b="1" dirty="0"/>
              <a:t>पौधा</a:t>
            </a:r>
            <a:r>
              <a:rPr lang="hi-IN" dirty="0"/>
              <a:t>, </a:t>
            </a:r>
            <a:r>
              <a:rPr lang="en-IN" dirty="0"/>
              <a:t>synchronised with the explanation.</a:t>
            </a:r>
          </a:p>
          <a:p>
            <a:r>
              <a:rPr lang="en-IN" b="1" dirty="0"/>
              <a:t>Animation: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Show the word first, followed by its image.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 simple </a:t>
            </a:r>
            <a:r>
              <a:rPr lang="en-IN" b="1" dirty="0"/>
              <a:t>fade/pop-in animations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When the VO explains the </a:t>
            </a:r>
            <a:r>
              <a:rPr lang="en-IN" dirty="0" err="1"/>
              <a:t>matra</a:t>
            </a:r>
            <a:r>
              <a:rPr lang="en-IN" dirty="0"/>
              <a:t>, softly highlight the complete </a:t>
            </a:r>
            <a:r>
              <a:rPr lang="hi-IN" b="1" dirty="0"/>
              <a:t>ौ मात्रा</a:t>
            </a:r>
            <a:r>
              <a:rPr lang="hi-IN" dirty="0"/>
              <a:t> </a:t>
            </a:r>
            <a:r>
              <a:rPr lang="en-IN" dirty="0"/>
              <a:t>in red, including both upper strokes and the right-side vertical stroke.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the consonants, headline, </a:t>
            </a:r>
            <a:r>
              <a:rPr lang="hi-IN" b="1" dirty="0"/>
              <a:t>आ</a:t>
            </a:r>
            <a:r>
              <a:rPr lang="hi-IN" dirty="0"/>
              <a:t> </a:t>
            </a:r>
            <a:r>
              <a:rPr lang="en-IN" dirty="0"/>
              <a:t>in </a:t>
            </a:r>
            <a:r>
              <a:rPr lang="hi-IN" b="1" dirty="0"/>
              <a:t>कौआ</a:t>
            </a:r>
            <a:r>
              <a:rPr lang="hi-IN" dirty="0"/>
              <a:t> </a:t>
            </a:r>
            <a:r>
              <a:rPr lang="en-IN" dirty="0"/>
              <a:t>and </a:t>
            </a:r>
            <a:r>
              <a:rPr lang="hi-IN" b="1" dirty="0"/>
              <a:t>ा मात्रा</a:t>
            </a:r>
            <a:r>
              <a:rPr lang="hi-IN" dirty="0"/>
              <a:t> </a:t>
            </a:r>
            <a:r>
              <a:rPr lang="en-IN" dirty="0"/>
              <a:t>in </a:t>
            </a:r>
            <a:r>
              <a:rPr lang="hi-IN" b="1" dirty="0"/>
              <a:t>पौधा</a:t>
            </a:r>
            <a:r>
              <a:rPr lang="hi-IN" dirty="0"/>
              <a:t> </a:t>
            </a:r>
            <a:r>
              <a:rPr lang="en-IN" dirty="0"/>
              <a:t>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Complete one example before introducing the next.</a:t>
            </a:r>
          </a:p>
          <a:p>
            <a:r>
              <a:rPr lang="en-IN" b="1" dirty="0"/>
              <a:t>SFX: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a soft pop when the word or image appears.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a soft chime when the </a:t>
            </a:r>
            <a:r>
              <a:rPr lang="en-IN" dirty="0" err="1"/>
              <a:t>matra</a:t>
            </a:r>
            <a:r>
              <a:rPr lang="en-IN" dirty="0"/>
              <a:t> highlights.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SFX subtle so the VO and pronunciation remain clear.</a:t>
            </a:r>
          </a:p>
          <a:p>
            <a:r>
              <a:rPr lang="en-IN" b="1" dirty="0"/>
              <a:t>Next Button: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the </a:t>
            </a:r>
            <a:r>
              <a:rPr lang="hi-IN" b="1" dirty="0"/>
              <a:t>आगे</a:t>
            </a:r>
            <a:r>
              <a:rPr lang="hi-IN" dirty="0"/>
              <a:t> </a:t>
            </a:r>
            <a:r>
              <a:rPr lang="en-IN" dirty="0"/>
              <a:t>button disabled during the explanation.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Activate it only after both examples and their VO sequences finish.</a:t>
            </a:r>
          </a:p>
          <a:p>
            <a:r>
              <a:rPr lang="en-IN" b="1" dirty="0"/>
              <a:t>Note: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Preserve the correct spellings: </a:t>
            </a:r>
            <a:r>
              <a:rPr lang="hi-IN" b="1" dirty="0"/>
              <a:t>कौआ</a:t>
            </a:r>
            <a:r>
              <a:rPr lang="hi-IN" dirty="0"/>
              <a:t> </a:t>
            </a:r>
            <a:r>
              <a:rPr lang="en-IN" dirty="0"/>
              <a:t>and </a:t>
            </a:r>
            <a:r>
              <a:rPr lang="hi-IN" b="1" dirty="0"/>
              <a:t>पौधा</a:t>
            </a:r>
            <a:r>
              <a:rPr lang="hi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 </a:t>
            </a:r>
            <a:r>
              <a:rPr lang="hi-IN" b="1" dirty="0"/>
              <a:t>कौआ</a:t>
            </a:r>
            <a:r>
              <a:rPr lang="hi-IN" dirty="0"/>
              <a:t>, </a:t>
            </a:r>
            <a:r>
              <a:rPr lang="en-IN" dirty="0"/>
              <a:t>highlight only </a:t>
            </a:r>
            <a:r>
              <a:rPr lang="hi-IN" b="1" dirty="0"/>
              <a:t>ौ</a:t>
            </a:r>
            <a:r>
              <a:rPr lang="hi-IN" dirty="0"/>
              <a:t> </a:t>
            </a:r>
            <a:r>
              <a:rPr lang="en-IN" dirty="0"/>
              <a:t>attached to </a:t>
            </a:r>
            <a:r>
              <a:rPr lang="hi-IN" b="1" dirty="0"/>
              <a:t>क</a:t>
            </a:r>
            <a:r>
              <a:rPr lang="hi-IN" dirty="0"/>
              <a:t>. </a:t>
            </a:r>
            <a:r>
              <a:rPr lang="en-IN" dirty="0"/>
              <a:t>The final </a:t>
            </a:r>
            <a:r>
              <a:rPr lang="hi-IN" b="1" dirty="0"/>
              <a:t>आ</a:t>
            </a:r>
            <a:r>
              <a:rPr lang="hi-IN" dirty="0"/>
              <a:t> </a:t>
            </a:r>
            <a:r>
              <a:rPr lang="en-IN" dirty="0"/>
              <a:t>is a separate vowel letter and should remain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 </a:t>
            </a:r>
            <a:r>
              <a:rPr lang="hi-IN" b="1" dirty="0"/>
              <a:t>पौधा</a:t>
            </a:r>
            <a:r>
              <a:rPr lang="hi-IN" dirty="0"/>
              <a:t>, </a:t>
            </a:r>
            <a:r>
              <a:rPr lang="en-IN" dirty="0"/>
              <a:t>highlight only </a:t>
            </a:r>
            <a:r>
              <a:rPr lang="hi-IN" b="1" dirty="0"/>
              <a:t>ौ</a:t>
            </a:r>
            <a:r>
              <a:rPr lang="hi-IN" dirty="0"/>
              <a:t> </a:t>
            </a:r>
            <a:r>
              <a:rPr lang="en-IN" dirty="0"/>
              <a:t>attached to </a:t>
            </a:r>
            <a:r>
              <a:rPr lang="hi-IN" b="1" dirty="0"/>
              <a:t>प</a:t>
            </a:r>
            <a:r>
              <a:rPr lang="hi-IN" dirty="0"/>
              <a:t>. </a:t>
            </a:r>
            <a:r>
              <a:rPr lang="en-IN" dirty="0"/>
              <a:t>Do not include </a:t>
            </a:r>
            <a:r>
              <a:rPr lang="hi-IN" b="1" dirty="0"/>
              <a:t>ा</a:t>
            </a:r>
            <a:r>
              <a:rPr lang="hi-IN" dirty="0"/>
              <a:t> </a:t>
            </a:r>
            <a:r>
              <a:rPr lang="en-IN" dirty="0"/>
              <a:t>after </a:t>
            </a:r>
            <a:r>
              <a:rPr lang="hi-IN" b="1" dirty="0"/>
              <a:t>ध</a:t>
            </a:r>
            <a:r>
              <a:rPr lang="hi-IN" dirty="0"/>
              <a:t> </a:t>
            </a:r>
            <a:r>
              <a:rPr lang="en-IN" dirty="0"/>
              <a:t>in the red </a:t>
            </a:r>
            <a:r>
              <a:rPr lang="en-IN" dirty="0" err="1"/>
              <a:t>matra</a:t>
            </a:r>
            <a:r>
              <a:rPr lang="en-IN" dirty="0"/>
              <a:t> highlight.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learning focus is recognising </a:t>
            </a:r>
            <a:r>
              <a:rPr lang="hi-IN" b="1" dirty="0"/>
              <a:t>औ की मात्रा</a:t>
            </a:r>
            <a:r>
              <a:rPr lang="hi-IN" dirty="0"/>
              <a:t> </a:t>
            </a:r>
            <a:r>
              <a:rPr lang="en-IN" dirty="0"/>
              <a:t>in both words: </a:t>
            </a:r>
            <a:r>
              <a:rPr lang="hi-IN" b="1" dirty="0"/>
              <a:t>कौआ, पौधा</a:t>
            </a:r>
            <a:r>
              <a:rPr lang="hi-IN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B3736-A798-4C43-B1A5-E113079F962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167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Option Change: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मोर</a:t>
            </a:r>
            <a:r>
              <a:rPr lang="en-GB" dirty="0"/>
              <a:t> as the previously taught word.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Replace </a:t>
            </a:r>
            <a:r>
              <a:rPr lang="en-GB" b="1" dirty="0" err="1"/>
              <a:t>कौआ</a:t>
            </a:r>
            <a:r>
              <a:rPr lang="en-GB" dirty="0"/>
              <a:t> with </a:t>
            </a:r>
            <a:r>
              <a:rPr lang="en-GB" b="1" dirty="0" err="1"/>
              <a:t>दौड़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Replace </a:t>
            </a:r>
            <a:r>
              <a:rPr lang="en-GB" b="1" dirty="0" err="1"/>
              <a:t>पौधा</a:t>
            </a:r>
            <a:r>
              <a:rPr lang="en-GB" dirty="0"/>
              <a:t> with </a:t>
            </a:r>
            <a:r>
              <a:rPr lang="en-GB" b="1" dirty="0" err="1"/>
              <a:t>चौक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Updated options: </a:t>
            </a:r>
            <a:r>
              <a:rPr lang="en-GB" b="1" dirty="0" err="1"/>
              <a:t>मोर</a:t>
            </a:r>
            <a:r>
              <a:rPr lang="en-GB" b="1" dirty="0"/>
              <a:t>, </a:t>
            </a:r>
            <a:r>
              <a:rPr lang="en-GB" b="1" dirty="0" err="1"/>
              <a:t>दौड़</a:t>
            </a:r>
            <a:r>
              <a:rPr lang="en-GB" b="1" dirty="0"/>
              <a:t>, </a:t>
            </a:r>
            <a:r>
              <a:rPr lang="en-GB" b="1" dirty="0" err="1"/>
              <a:t>चौक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दौड़</a:t>
            </a:r>
            <a:r>
              <a:rPr lang="en-GB" dirty="0"/>
              <a:t> and </a:t>
            </a:r>
            <a:r>
              <a:rPr lang="en-GB" b="1" dirty="0" err="1"/>
              <a:t>चौक</a:t>
            </a:r>
            <a:r>
              <a:rPr lang="en-GB" dirty="0"/>
              <a:t> are short words not used in the preceding activities. Neither contains an additional vowel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मोर</a:t>
            </a:r>
            <a:r>
              <a:rPr lang="en-GB" dirty="0"/>
              <a:t> remains the only correct answer for </a:t>
            </a:r>
            <a:r>
              <a:rPr lang="en-GB" b="1" dirty="0"/>
              <a:t>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dirty="0"/>
              <a:t>.</a:t>
            </a:r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“ओ”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</a:t>
            </a:r>
            <a:endParaRPr lang="en-GB" dirty="0"/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train enters smoothly </a:t>
            </a:r>
            <a:r>
              <a:rPr lang="en-GB" b="1" dirty="0"/>
              <a:t>from right to left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stops at the centre of the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three coaches show </a:t>
            </a:r>
            <a:r>
              <a:rPr lang="en-GB" b="1" dirty="0" err="1"/>
              <a:t>मोर</a:t>
            </a:r>
            <a:r>
              <a:rPr lang="en-GB" b="1" dirty="0"/>
              <a:t>, </a:t>
            </a:r>
            <a:r>
              <a:rPr lang="en-GB" b="1" dirty="0" err="1"/>
              <a:t>दौड़</a:t>
            </a:r>
            <a:r>
              <a:rPr lang="en-GB" b="1" dirty="0"/>
              <a:t>, </a:t>
            </a:r>
            <a:r>
              <a:rPr lang="en-GB" b="1" dirty="0" err="1"/>
              <a:t>चौक</a:t>
            </a:r>
            <a:r>
              <a:rPr lang="en-GB" dirty="0"/>
              <a:t> clearly.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VO after the train stops.</a:t>
            </a:r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heading at the top: </a:t>
            </a:r>
            <a:r>
              <a:rPr lang="en-GB" b="1" dirty="0"/>
              <a:t>“ओ”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options in this order: </a:t>
            </a:r>
            <a:r>
              <a:rPr lang="en-GB" b="1" dirty="0" err="1"/>
              <a:t>मोर</a:t>
            </a:r>
            <a:r>
              <a:rPr lang="en-GB" b="1" dirty="0"/>
              <a:t>, </a:t>
            </a:r>
            <a:r>
              <a:rPr lang="en-GB" b="1" dirty="0" err="1"/>
              <a:t>दौड़</a:t>
            </a:r>
            <a:r>
              <a:rPr lang="en-GB" b="1" dirty="0"/>
              <a:t>, </a:t>
            </a:r>
            <a:r>
              <a:rPr lang="en-GB" b="1" dirty="0" err="1"/>
              <a:t>चौक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add extra instruction text in the play area.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Initially, keep all words in the regular text colour without </a:t>
            </a:r>
            <a:r>
              <a:rPr lang="en-GB" dirty="0" err="1"/>
              <a:t>matra</a:t>
            </a:r>
            <a:r>
              <a:rPr lang="en-GB" dirty="0"/>
              <a:t> highlights or answer cues.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जिस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वाला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, </a:t>
            </a:r>
            <a:r>
              <a:rPr lang="en-GB" b="1" dirty="0" err="1"/>
              <a:t>उस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Correct Answer: </a:t>
            </a:r>
            <a:r>
              <a:rPr lang="en-GB" b="1" dirty="0" err="1"/>
              <a:t>मोर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Accept a tap anywhere inside the </a:t>
            </a:r>
            <a:r>
              <a:rPr lang="en-GB" b="1" dirty="0" err="1"/>
              <a:t>मोर</a:t>
            </a:r>
            <a:r>
              <a:rPr lang="en-GB" dirty="0"/>
              <a:t>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confetti/sparkle effect.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</a:t>
            </a:r>
            <a:r>
              <a:rPr lang="en-GB" b="1" dirty="0" err="1"/>
              <a:t>मोर</a:t>
            </a:r>
            <a:r>
              <a:rPr lang="en-GB" dirty="0"/>
              <a:t> coach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the complete </a:t>
            </a:r>
            <a:r>
              <a:rPr lang="en-GB" b="1" dirty="0"/>
              <a:t>ो </a:t>
            </a:r>
            <a:r>
              <a:rPr lang="en-GB" b="1" dirty="0" err="1"/>
              <a:t>मात्रा</a:t>
            </a:r>
            <a:r>
              <a:rPr lang="en-GB" dirty="0"/>
              <a:t> attached to </a:t>
            </a:r>
            <a:r>
              <a:rPr lang="en-GB" b="1" dirty="0"/>
              <a:t>म</a:t>
            </a:r>
            <a:r>
              <a:rPr lang="en-GB" dirty="0"/>
              <a:t> in red.</a:t>
            </a:r>
          </a:p>
          <a:p>
            <a:r>
              <a:rPr lang="en-GB" b="1" dirty="0"/>
              <a:t>Correct Response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मोर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Attempt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taps </a:t>
            </a:r>
            <a:r>
              <a:rPr lang="en-GB" b="1" dirty="0" err="1"/>
              <a:t>दौड़</a:t>
            </a:r>
            <a:r>
              <a:rPr lang="en-GB" dirty="0"/>
              <a:t> or </a:t>
            </a:r>
            <a:r>
              <a:rPr lang="en-GB" b="1" dirty="0" err="1"/>
              <a:t>चौक</a:t>
            </a:r>
            <a:r>
              <a:rPr lang="en-GB" dirty="0"/>
              <a:t>, softly shake the selected coach, then 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any word or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the child to choose from all three options again.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पढ़िए</a:t>
            </a:r>
            <a:r>
              <a:rPr lang="en-GB" b="1" dirty="0"/>
              <a:t>। 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Attempt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selected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</a:t>
            </a:r>
            <a:r>
              <a:rPr lang="en-GB" b="1" dirty="0"/>
              <a:t>all three words</a:t>
            </a:r>
            <a:r>
              <a:rPr lang="en-GB" dirty="0"/>
              <a:t>, one by one, from left to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As </a:t>
            </a:r>
            <a:r>
              <a:rPr lang="en-GB" b="1" dirty="0" err="1"/>
              <a:t>मोर</a:t>
            </a:r>
            <a:r>
              <a:rPr lang="en-GB" dirty="0"/>
              <a:t> is spoken, highlight the complete </a:t>
            </a:r>
            <a:r>
              <a:rPr lang="en-GB" b="1" dirty="0"/>
              <a:t>ो </a:t>
            </a:r>
            <a:r>
              <a:rPr lang="en-GB" b="1" dirty="0" err="1"/>
              <a:t>मात्रा</a:t>
            </a:r>
            <a:r>
              <a:rPr lang="en-GB" dirty="0"/>
              <a:t> attached to </a:t>
            </a:r>
            <a:r>
              <a:rPr lang="en-GB" b="1" dirty="0"/>
              <a:t>म</a:t>
            </a:r>
            <a:r>
              <a:rPr lang="en-GB" dirty="0"/>
              <a:t>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As </a:t>
            </a:r>
            <a:r>
              <a:rPr lang="en-GB" b="1" dirty="0" err="1"/>
              <a:t>दौड़</a:t>
            </a:r>
            <a:r>
              <a:rPr lang="en-GB" dirty="0"/>
              <a:t> is spoken, highlight the complete </a:t>
            </a:r>
            <a:r>
              <a:rPr lang="en-GB" b="1" dirty="0"/>
              <a:t>ौ </a:t>
            </a:r>
            <a:r>
              <a:rPr lang="en-GB" b="1" dirty="0" err="1"/>
              <a:t>मात्रा</a:t>
            </a:r>
            <a:r>
              <a:rPr lang="en-GB" dirty="0"/>
              <a:t> attached to </a:t>
            </a:r>
            <a:r>
              <a:rPr lang="en-GB" b="1" dirty="0"/>
              <a:t>द</a:t>
            </a:r>
            <a:r>
              <a:rPr lang="en-GB" dirty="0"/>
              <a:t>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As </a:t>
            </a:r>
            <a:r>
              <a:rPr lang="en-GB" b="1" dirty="0" err="1"/>
              <a:t>चौक</a:t>
            </a:r>
            <a:r>
              <a:rPr lang="en-GB" dirty="0"/>
              <a:t> is spoken, highlight the complete </a:t>
            </a:r>
            <a:r>
              <a:rPr lang="en-GB" b="1" dirty="0"/>
              <a:t>ौ </a:t>
            </a:r>
            <a:r>
              <a:rPr lang="en-GB" b="1" dirty="0" err="1"/>
              <a:t>मात्रा</a:t>
            </a:r>
            <a:r>
              <a:rPr lang="en-GB" dirty="0"/>
              <a:t> attached to </a:t>
            </a:r>
            <a:r>
              <a:rPr lang="en-GB" b="1" dirty="0"/>
              <a:t>च</a:t>
            </a:r>
            <a:r>
              <a:rPr lang="en-GB" dirty="0"/>
              <a:t>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Include the upper strokes and right-side vertical stroke of each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same highlighting style as the teaching screens.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consonants, headline and </a:t>
            </a:r>
            <a:r>
              <a:rPr lang="en-GB" dirty="0" err="1"/>
              <a:t>nukta</a:t>
            </a:r>
            <a:r>
              <a:rPr lang="en-GB" dirty="0"/>
              <a:t> under </a:t>
            </a:r>
            <a:r>
              <a:rPr lang="en-GB" b="1" dirty="0" err="1"/>
              <a:t>ड़</a:t>
            </a:r>
            <a:r>
              <a:rPr lang="en-GB" dirty="0"/>
              <a:t>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Retain the </a:t>
            </a:r>
            <a:r>
              <a:rPr lang="en-GB" dirty="0" err="1"/>
              <a:t>matra</a:t>
            </a:r>
            <a:r>
              <a:rPr lang="en-GB" dirty="0"/>
              <a:t> highlights in all three words so the child can compare.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add a correct-answer coach glow or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keep all three options available.</a:t>
            </a:r>
          </a:p>
          <a:p>
            <a:r>
              <a:rPr lang="en-GB" b="1" dirty="0"/>
              <a:t>VO, with a short pause between words: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मोर</a:t>
            </a:r>
            <a:r>
              <a:rPr lang="en-GB" b="1" dirty="0"/>
              <a:t>। </a:t>
            </a:r>
            <a:r>
              <a:rPr lang="en-GB" b="1" dirty="0" err="1"/>
              <a:t>दौड़</a:t>
            </a:r>
            <a:r>
              <a:rPr lang="en-GB" b="1" dirty="0"/>
              <a:t>। </a:t>
            </a:r>
            <a:r>
              <a:rPr lang="en-GB" b="1" dirty="0" err="1"/>
              <a:t>चौक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“ओ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Attempt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selected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</a:t>
            </a:r>
            <a:r>
              <a:rPr lang="en-GB" b="1" dirty="0" err="1"/>
              <a:t>मोर</a:t>
            </a:r>
            <a:r>
              <a:rPr lang="en-GB" dirty="0"/>
              <a:t> coach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</a:t>
            </a:r>
            <a:r>
              <a:rPr lang="en-GB" b="1" dirty="0"/>
              <a:t>hand nudge on the </a:t>
            </a:r>
            <a:r>
              <a:rPr lang="en-GB" b="1" dirty="0" err="1"/>
              <a:t>मोर</a:t>
            </a:r>
            <a:r>
              <a:rPr lang="en-GB" b="1" dirty="0"/>
              <a:t> coach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/>
              <a:t>ो</a:t>
            </a:r>
            <a:r>
              <a:rPr lang="en-GB" dirty="0"/>
              <a:t> inside </a:t>
            </a:r>
            <a:r>
              <a:rPr lang="en-GB" b="1" dirty="0" err="1"/>
              <a:t>मोर</a:t>
            </a:r>
            <a:r>
              <a:rPr lang="en-GB" dirty="0"/>
              <a:t> highlighted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</a:t>
            </a:r>
            <a:r>
              <a:rPr lang="en-GB" b="1" dirty="0" err="1"/>
              <a:t>दौड़</a:t>
            </a:r>
            <a:r>
              <a:rPr lang="en-GB" dirty="0"/>
              <a:t> and </a:t>
            </a:r>
            <a:r>
              <a:rPr lang="en-GB" b="1" dirty="0" err="1"/>
              <a:t>चौक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only </a:t>
            </a:r>
            <a:r>
              <a:rPr lang="en-GB" b="1" dirty="0" err="1"/>
              <a:t>मोर</a:t>
            </a:r>
            <a:r>
              <a:rPr lang="en-GB" dirty="0"/>
              <a:t> to be selected.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Wait for the child to tap it. Do not select the answer or advance automatically.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मोर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मोर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Correct Response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Accept the child’s tap on </a:t>
            </a:r>
            <a:r>
              <a:rPr lang="en-GB" b="1" dirty="0" err="1"/>
              <a:t>मोर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the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confetti/sparkle effect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correct word’s </a:t>
            </a:r>
            <a:r>
              <a:rPr lang="en-GB" dirty="0" err="1"/>
              <a:t>matra</a:t>
            </a:r>
            <a:r>
              <a:rPr lang="en-GB" dirty="0"/>
              <a:t> highlighted.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the feedback finishes.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the answer.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train arrival/whistle sound during entry.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tap sound on selection.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attempt.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success chime on the correct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all SFX below the VO volume.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the child selects </a:t>
            </a:r>
            <a:r>
              <a:rPr lang="en-GB" b="1" dirty="0" err="1"/>
              <a:t>मोर</a:t>
            </a:r>
            <a:r>
              <a:rPr lang="en-GB" dirty="0"/>
              <a:t> and the feedback finishes.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Update the option text and associated word audio to </a:t>
            </a:r>
            <a:r>
              <a:rPr lang="en-GB" b="1" dirty="0" err="1"/>
              <a:t>मोर</a:t>
            </a:r>
            <a:r>
              <a:rPr lang="en-GB" b="1" dirty="0"/>
              <a:t>, </a:t>
            </a:r>
            <a:r>
              <a:rPr lang="en-GB" b="1" dirty="0" err="1"/>
              <a:t>दौड़</a:t>
            </a:r>
            <a:r>
              <a:rPr lang="en-GB" b="1" dirty="0"/>
              <a:t>, </a:t>
            </a:r>
            <a:r>
              <a:rPr lang="en-GB" b="1" dirty="0" err="1"/>
              <a:t>चौक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Count wrong taps across both incorrect options. Switching from </a:t>
            </a:r>
            <a:r>
              <a:rPr lang="en-GB" b="1" dirty="0" err="1"/>
              <a:t>दौड़</a:t>
            </a:r>
            <a:r>
              <a:rPr lang="en-GB" dirty="0"/>
              <a:t> to </a:t>
            </a:r>
            <a:r>
              <a:rPr lang="en-GB" b="1" dirty="0" err="1"/>
              <a:t>चौक</a:t>
            </a:r>
            <a:r>
              <a:rPr lang="en-GB" dirty="0"/>
              <a:t> must not reset the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Trigger Hint 1 after the first wrong tap, Hint 2 after the second, and Hint 3 after the third.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answers correctly at any earlier stage, accept the answer immediately and stop the hint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hand nudge appears </a:t>
            </a:r>
            <a:r>
              <a:rPr lang="en-GB" b="1" dirty="0"/>
              <a:t>only in Hint 3</a:t>
            </a:r>
            <a:r>
              <a:rPr lang="en-GB" dirty="0"/>
              <a:t> for this guided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Option Change: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</a:t>
            </a:r>
            <a:r>
              <a:rPr lang="en-GB" b="1" dirty="0" err="1"/>
              <a:t>ढोल</a:t>
            </a:r>
            <a:r>
              <a:rPr lang="en-GB" b="1" dirty="0"/>
              <a:t>, </a:t>
            </a:r>
            <a:r>
              <a:rPr lang="en-GB" b="1" dirty="0" err="1"/>
              <a:t>कौआ</a:t>
            </a:r>
            <a:r>
              <a:rPr lang="en-GB" b="1" dirty="0"/>
              <a:t>, </a:t>
            </a:r>
            <a:r>
              <a:rPr lang="en-GB" b="1" dirty="0" err="1"/>
              <a:t>गोल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कौआ</a:t>
            </a:r>
            <a:r>
              <a:rPr lang="en-GB" dirty="0"/>
              <a:t> as the previously taught word.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</a:t>
            </a:r>
            <a:r>
              <a:rPr lang="en-GB" b="1" dirty="0" err="1"/>
              <a:t>ढोल</a:t>
            </a:r>
            <a:r>
              <a:rPr lang="en-GB" dirty="0"/>
              <a:t> and </a:t>
            </a:r>
            <a:r>
              <a:rPr lang="en-GB" b="1" dirty="0" err="1"/>
              <a:t>गोल</a:t>
            </a:r>
            <a:r>
              <a:rPr lang="en-GB" dirty="0"/>
              <a:t> as two new, simple words.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कौआ</a:t>
            </a:r>
            <a:r>
              <a:rPr lang="en-GB" dirty="0"/>
              <a:t> is the only correct answer for </a:t>
            </a:r>
            <a:r>
              <a:rPr lang="en-GB" b="1" dirty="0"/>
              <a:t>औ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dirty="0"/>
              <a:t>.</a:t>
            </a:r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“औ”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</a:t>
            </a:r>
            <a:endParaRPr lang="en-GB" dirty="0"/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train enters smoothly </a:t>
            </a:r>
            <a:r>
              <a:rPr lang="en-GB" b="1" dirty="0"/>
              <a:t>from right to left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stops at the centre of the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three coaches show </a:t>
            </a:r>
            <a:r>
              <a:rPr lang="en-GB" b="1" dirty="0" err="1"/>
              <a:t>ढोल</a:t>
            </a:r>
            <a:r>
              <a:rPr lang="en-GB" b="1" dirty="0"/>
              <a:t>, </a:t>
            </a:r>
            <a:r>
              <a:rPr lang="en-GB" b="1" dirty="0" err="1"/>
              <a:t>कौआ</a:t>
            </a:r>
            <a:r>
              <a:rPr lang="en-GB" b="1" dirty="0"/>
              <a:t>, </a:t>
            </a:r>
            <a:r>
              <a:rPr lang="en-GB" b="1" dirty="0" err="1"/>
              <a:t>गोल</a:t>
            </a:r>
            <a:r>
              <a:rPr lang="en-GB" dirty="0"/>
              <a:t> clearly.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VO after the train stops.</a:t>
            </a:r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heading at the top: </a:t>
            </a:r>
            <a:r>
              <a:rPr lang="en-GB" b="1" dirty="0"/>
              <a:t>“औ”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options in this order: </a:t>
            </a:r>
            <a:r>
              <a:rPr lang="en-GB" b="1" dirty="0" err="1"/>
              <a:t>ढोल</a:t>
            </a:r>
            <a:r>
              <a:rPr lang="en-GB" b="1" dirty="0"/>
              <a:t>, </a:t>
            </a:r>
            <a:r>
              <a:rPr lang="en-GB" b="1" dirty="0" err="1"/>
              <a:t>कौआ</a:t>
            </a:r>
            <a:r>
              <a:rPr lang="en-GB" b="1" dirty="0"/>
              <a:t>, </a:t>
            </a:r>
            <a:r>
              <a:rPr lang="en-GB" b="1" dirty="0" err="1"/>
              <a:t>गोल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add extra instruction text in the play area.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Initially, keep all words in the regular text colour without </a:t>
            </a:r>
            <a:r>
              <a:rPr lang="en-GB" dirty="0" err="1"/>
              <a:t>matra</a:t>
            </a:r>
            <a:r>
              <a:rPr lang="en-GB" dirty="0"/>
              <a:t> highlights or answer cues.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जिस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औ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वाला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, </a:t>
            </a:r>
            <a:r>
              <a:rPr lang="en-GB" b="1" dirty="0" err="1"/>
              <a:t>उस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Correct Answer: </a:t>
            </a:r>
            <a:r>
              <a:rPr lang="en-GB" b="1" dirty="0" err="1"/>
              <a:t>कौआ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Accept a tap anywhere inside the </a:t>
            </a:r>
            <a:r>
              <a:rPr lang="en-GB" b="1" dirty="0" err="1"/>
              <a:t>कौआ</a:t>
            </a:r>
            <a:r>
              <a:rPr lang="en-GB" dirty="0"/>
              <a:t>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confetti/sparkle effect.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</a:t>
            </a:r>
            <a:r>
              <a:rPr lang="en-GB" b="1" dirty="0" err="1"/>
              <a:t>कौआ</a:t>
            </a:r>
            <a:r>
              <a:rPr lang="en-GB" dirty="0"/>
              <a:t> coach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the complete </a:t>
            </a:r>
            <a:r>
              <a:rPr lang="en-GB" b="1" dirty="0"/>
              <a:t>ौ </a:t>
            </a:r>
            <a:r>
              <a:rPr lang="en-GB" b="1" dirty="0" err="1"/>
              <a:t>मात्रा</a:t>
            </a:r>
            <a:r>
              <a:rPr lang="en-GB" dirty="0"/>
              <a:t> attached to </a:t>
            </a:r>
            <a:r>
              <a:rPr lang="en-GB" b="1" dirty="0"/>
              <a:t>क</a:t>
            </a:r>
            <a:r>
              <a:rPr lang="en-GB" dirty="0"/>
              <a:t>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separate vowel letter </a:t>
            </a:r>
            <a:r>
              <a:rPr lang="en-GB" b="1" dirty="0"/>
              <a:t>आ</a:t>
            </a:r>
            <a:r>
              <a:rPr lang="en-GB" dirty="0"/>
              <a:t> in the regular text colour.</a:t>
            </a:r>
          </a:p>
          <a:p>
            <a:r>
              <a:rPr lang="en-GB" b="1" dirty="0"/>
              <a:t>Correct Response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कौआ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औ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Attempt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taps </a:t>
            </a:r>
            <a:r>
              <a:rPr lang="en-GB" b="1" dirty="0" err="1"/>
              <a:t>ढोल</a:t>
            </a:r>
            <a:r>
              <a:rPr lang="en-GB" dirty="0"/>
              <a:t> or </a:t>
            </a:r>
            <a:r>
              <a:rPr lang="en-GB" b="1" dirty="0" err="1"/>
              <a:t>गोल</a:t>
            </a:r>
            <a:r>
              <a:rPr lang="en-GB" dirty="0"/>
              <a:t>, softly shake the selected coach, then 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any word or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the child to choose from all three options again.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पढ़िए</a:t>
            </a:r>
            <a:r>
              <a:rPr lang="en-GB" b="1" dirty="0"/>
              <a:t>। औ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Attempt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selected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</a:t>
            </a:r>
            <a:r>
              <a:rPr lang="en-GB" b="1" dirty="0"/>
              <a:t>all three words</a:t>
            </a:r>
            <a:r>
              <a:rPr lang="en-GB" dirty="0"/>
              <a:t>, one by one, from left to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As </a:t>
            </a:r>
            <a:r>
              <a:rPr lang="en-GB" b="1" dirty="0" err="1"/>
              <a:t>ढोल</a:t>
            </a:r>
            <a:r>
              <a:rPr lang="en-GB" dirty="0"/>
              <a:t> is spoken, highlight the complete </a:t>
            </a:r>
            <a:r>
              <a:rPr lang="en-GB" b="1" dirty="0"/>
              <a:t>ो </a:t>
            </a:r>
            <a:r>
              <a:rPr lang="en-GB" b="1" dirty="0" err="1"/>
              <a:t>मात्रा</a:t>
            </a:r>
            <a:r>
              <a:rPr lang="en-GB" dirty="0"/>
              <a:t> attached to </a:t>
            </a:r>
            <a:r>
              <a:rPr lang="en-GB" b="1" dirty="0"/>
              <a:t>ढ</a:t>
            </a:r>
            <a:r>
              <a:rPr lang="en-GB" dirty="0"/>
              <a:t>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As </a:t>
            </a:r>
            <a:r>
              <a:rPr lang="en-GB" b="1" dirty="0" err="1"/>
              <a:t>कौआ</a:t>
            </a:r>
            <a:r>
              <a:rPr lang="en-GB" dirty="0"/>
              <a:t> is spoken, highlight the complete </a:t>
            </a:r>
            <a:r>
              <a:rPr lang="en-GB" b="1" dirty="0"/>
              <a:t>ौ </a:t>
            </a:r>
            <a:r>
              <a:rPr lang="en-GB" b="1" dirty="0" err="1"/>
              <a:t>मात्रा</a:t>
            </a:r>
            <a:r>
              <a:rPr lang="en-GB" dirty="0"/>
              <a:t> attached to </a:t>
            </a:r>
            <a:r>
              <a:rPr lang="en-GB" b="1" dirty="0"/>
              <a:t>क</a:t>
            </a:r>
            <a:r>
              <a:rPr lang="en-GB" dirty="0"/>
              <a:t>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As </a:t>
            </a:r>
            <a:r>
              <a:rPr lang="en-GB" b="1" dirty="0" err="1"/>
              <a:t>गोल</a:t>
            </a:r>
            <a:r>
              <a:rPr lang="en-GB" dirty="0"/>
              <a:t> is spoken, highlight the complete </a:t>
            </a:r>
            <a:r>
              <a:rPr lang="en-GB" b="1" dirty="0"/>
              <a:t>ो </a:t>
            </a:r>
            <a:r>
              <a:rPr lang="en-GB" b="1" dirty="0" err="1"/>
              <a:t>मात्रा</a:t>
            </a:r>
            <a:r>
              <a:rPr lang="en-GB" dirty="0"/>
              <a:t> attached to </a:t>
            </a:r>
            <a:r>
              <a:rPr lang="en-GB" b="1" dirty="0"/>
              <a:t>ग</a:t>
            </a:r>
            <a:r>
              <a:rPr lang="en-GB" dirty="0"/>
              <a:t>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Include the upper strokes and right-side vertical stroke of each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same highlighting style as the teaching screens.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consonants, headline and separate </a:t>
            </a:r>
            <a:r>
              <a:rPr lang="en-GB" b="1" dirty="0"/>
              <a:t>आ</a:t>
            </a:r>
            <a:r>
              <a:rPr lang="en-GB" dirty="0"/>
              <a:t> in </a:t>
            </a:r>
            <a:r>
              <a:rPr lang="en-GB" b="1" dirty="0" err="1"/>
              <a:t>कौआ</a:t>
            </a:r>
            <a:r>
              <a:rPr lang="en-GB" dirty="0"/>
              <a:t>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Retain the </a:t>
            </a:r>
            <a:r>
              <a:rPr lang="en-GB" dirty="0" err="1"/>
              <a:t>matra</a:t>
            </a:r>
            <a:r>
              <a:rPr lang="en-GB" dirty="0"/>
              <a:t> highlights in all three words so the child can compare.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add a correct-answer coach glow or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keep all three options available.</a:t>
            </a:r>
          </a:p>
          <a:p>
            <a:r>
              <a:rPr lang="en-GB" b="1" dirty="0"/>
              <a:t>VO, with a short pause between words: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ढोल</a:t>
            </a:r>
            <a:r>
              <a:rPr lang="en-GB" b="1" dirty="0"/>
              <a:t>। </a:t>
            </a:r>
            <a:r>
              <a:rPr lang="en-GB" b="1" dirty="0" err="1"/>
              <a:t>कौआ</a:t>
            </a:r>
            <a:r>
              <a:rPr lang="en-GB" b="1" dirty="0"/>
              <a:t>। </a:t>
            </a:r>
            <a:r>
              <a:rPr lang="en-GB" b="1" dirty="0" err="1"/>
              <a:t>गोल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“औ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Attempt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selected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</a:t>
            </a:r>
            <a:r>
              <a:rPr lang="en-GB" b="1" dirty="0" err="1"/>
              <a:t>कौआ</a:t>
            </a:r>
            <a:r>
              <a:rPr lang="en-GB" dirty="0"/>
              <a:t> coach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</a:t>
            </a:r>
            <a:r>
              <a:rPr lang="en-GB" b="1" dirty="0"/>
              <a:t>hand nudge on the </a:t>
            </a:r>
            <a:r>
              <a:rPr lang="en-GB" b="1" dirty="0" err="1"/>
              <a:t>कौआ</a:t>
            </a:r>
            <a:r>
              <a:rPr lang="en-GB" b="1" dirty="0"/>
              <a:t> coach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/>
              <a:t>ौ</a:t>
            </a:r>
            <a:r>
              <a:rPr lang="en-GB" dirty="0"/>
              <a:t> inside </a:t>
            </a:r>
            <a:r>
              <a:rPr lang="en-GB" b="1" dirty="0" err="1"/>
              <a:t>कौआ</a:t>
            </a:r>
            <a:r>
              <a:rPr lang="en-GB" dirty="0"/>
              <a:t> highlighted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</a:t>
            </a:r>
            <a:r>
              <a:rPr lang="en-GB" b="1" dirty="0" err="1"/>
              <a:t>ढोल</a:t>
            </a:r>
            <a:r>
              <a:rPr lang="en-GB" dirty="0"/>
              <a:t> and </a:t>
            </a:r>
            <a:r>
              <a:rPr lang="en-GB" b="1" dirty="0" err="1"/>
              <a:t>गोल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only </a:t>
            </a:r>
            <a:r>
              <a:rPr lang="en-GB" b="1" dirty="0" err="1"/>
              <a:t>कौआ</a:t>
            </a:r>
            <a:r>
              <a:rPr lang="en-GB" dirty="0"/>
              <a:t> to be selected.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Wait for the child to tap it. Do not select the answer or advance automatically.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कौआ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औ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कौआ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Correct Response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Accept the child’s tap on </a:t>
            </a:r>
            <a:r>
              <a:rPr lang="en-GB" b="1" dirty="0" err="1"/>
              <a:t>कौआ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the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confetti/sparkle effect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correct word’s </a:t>
            </a:r>
            <a:r>
              <a:rPr lang="en-GB" dirty="0" err="1"/>
              <a:t>matra</a:t>
            </a:r>
            <a:r>
              <a:rPr lang="en-GB" dirty="0"/>
              <a:t> highlighted.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the feedback finishes.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the answer.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train arrival/whistle sound during entry.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tap sound on selection.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attempt.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success chime on the correct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all SFX below the VO volume.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the child selects </a:t>
            </a:r>
            <a:r>
              <a:rPr lang="en-GB" b="1" dirty="0" err="1"/>
              <a:t>कौआ</a:t>
            </a:r>
            <a:r>
              <a:rPr lang="en-GB" dirty="0"/>
              <a:t> and the feedback finishes.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Update the option text and associated word audio to </a:t>
            </a:r>
            <a:r>
              <a:rPr lang="en-GB" b="1" dirty="0" err="1"/>
              <a:t>ढोल</a:t>
            </a:r>
            <a:r>
              <a:rPr lang="en-GB" b="1" dirty="0"/>
              <a:t>, </a:t>
            </a:r>
            <a:r>
              <a:rPr lang="en-GB" b="1" dirty="0" err="1"/>
              <a:t>कौआ</a:t>
            </a:r>
            <a:r>
              <a:rPr lang="en-GB" b="1" dirty="0"/>
              <a:t>, </a:t>
            </a:r>
            <a:r>
              <a:rPr lang="en-GB" b="1" dirty="0" err="1"/>
              <a:t>गोल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Count wrong taps across both incorrect options. Switching from </a:t>
            </a:r>
            <a:r>
              <a:rPr lang="en-GB" b="1" dirty="0" err="1"/>
              <a:t>ढोल</a:t>
            </a:r>
            <a:r>
              <a:rPr lang="en-GB" dirty="0"/>
              <a:t> to </a:t>
            </a:r>
            <a:r>
              <a:rPr lang="en-GB" b="1" dirty="0" err="1"/>
              <a:t>गोल</a:t>
            </a:r>
            <a:r>
              <a:rPr lang="en-GB" dirty="0"/>
              <a:t> must not reset the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Trigger Hint 1 after the first wrong tap, Hint 2 after the second, and Hint 3 after the third.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answers correctly at any earlier stage, accept the answer immediately and stop the hint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hand nudge appears </a:t>
            </a:r>
            <a:r>
              <a:rPr lang="en-GB" b="1" dirty="0"/>
              <a:t>only in Hint 3</a:t>
            </a:r>
            <a:r>
              <a:rPr lang="en-GB" dirty="0"/>
              <a:t> for this guided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“ओ”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</a:t>
            </a:r>
            <a:endParaRPr lang="en-GB" dirty="0"/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train enters smoothly </a:t>
            </a:r>
            <a:r>
              <a:rPr lang="en-GB" b="1" dirty="0"/>
              <a:t>from right to left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stops at the centre of the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three coaches show </a:t>
            </a:r>
            <a:r>
              <a:rPr lang="en-GB" b="1" dirty="0" err="1"/>
              <a:t>नौका</a:t>
            </a:r>
            <a:r>
              <a:rPr lang="en-GB" b="1" dirty="0"/>
              <a:t>, </a:t>
            </a:r>
            <a:r>
              <a:rPr lang="en-GB" b="1" dirty="0" err="1"/>
              <a:t>तोता</a:t>
            </a:r>
            <a:r>
              <a:rPr lang="en-GB" b="1" dirty="0"/>
              <a:t>, </a:t>
            </a:r>
            <a:r>
              <a:rPr lang="en-GB" b="1" dirty="0" err="1"/>
              <a:t>कौआ</a:t>
            </a:r>
            <a:r>
              <a:rPr lang="en-GB" dirty="0"/>
              <a:t> clearly.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VO after the train stops.</a:t>
            </a:r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heading at the top: </a:t>
            </a:r>
            <a:r>
              <a:rPr lang="en-GB" b="1" dirty="0"/>
              <a:t>“ओ”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three options in this order: </a:t>
            </a:r>
            <a:r>
              <a:rPr lang="en-GB" b="1" dirty="0" err="1"/>
              <a:t>नौका</a:t>
            </a:r>
            <a:r>
              <a:rPr lang="en-GB" b="1" dirty="0"/>
              <a:t>, </a:t>
            </a:r>
            <a:r>
              <a:rPr lang="en-GB" b="1" dirty="0" err="1"/>
              <a:t>तोता</a:t>
            </a:r>
            <a:r>
              <a:rPr lang="en-GB" b="1" dirty="0"/>
              <a:t>, </a:t>
            </a:r>
            <a:r>
              <a:rPr lang="en-GB" b="1" dirty="0" err="1"/>
              <a:t>कौआ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add extra instruction text in the play area.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Initially, keep all words in the regular text colour without </a:t>
            </a:r>
            <a:r>
              <a:rPr lang="en-GB" dirty="0" err="1"/>
              <a:t>matra</a:t>
            </a:r>
            <a:r>
              <a:rPr lang="en-GB" dirty="0"/>
              <a:t> highlights or answer cues.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जिस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वाला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, </a:t>
            </a:r>
            <a:r>
              <a:rPr lang="en-GB" b="1" dirty="0" err="1"/>
              <a:t>उस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Correct Answer: </a:t>
            </a:r>
            <a:r>
              <a:rPr lang="en-GB" b="1" dirty="0" err="1"/>
              <a:t>तोता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Accept a tap anywhere inside the </a:t>
            </a:r>
            <a:r>
              <a:rPr lang="en-GB" b="1" dirty="0" err="1"/>
              <a:t>तोता</a:t>
            </a:r>
            <a:r>
              <a:rPr lang="en-GB" dirty="0"/>
              <a:t>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confetti/sparkle effect.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</a:t>
            </a:r>
            <a:r>
              <a:rPr lang="en-GB" b="1" dirty="0" err="1"/>
              <a:t>तोता</a:t>
            </a:r>
            <a:r>
              <a:rPr lang="en-GB" dirty="0"/>
              <a:t> coach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the complete </a:t>
            </a:r>
            <a:r>
              <a:rPr lang="en-GB" b="1" dirty="0"/>
              <a:t>ो </a:t>
            </a:r>
            <a:r>
              <a:rPr lang="en-GB" b="1" dirty="0" err="1"/>
              <a:t>मात्रा</a:t>
            </a:r>
            <a:r>
              <a:rPr lang="en-GB" dirty="0"/>
              <a:t> attached to the first </a:t>
            </a:r>
            <a:r>
              <a:rPr lang="en-GB" b="1" dirty="0"/>
              <a:t>त</a:t>
            </a:r>
            <a:r>
              <a:rPr lang="en-GB" dirty="0"/>
              <a:t> in </a:t>
            </a:r>
            <a:r>
              <a:rPr lang="en-GB" b="1" dirty="0" err="1"/>
              <a:t>तोता</a:t>
            </a:r>
            <a:r>
              <a:rPr lang="en-GB" dirty="0"/>
              <a:t>, using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remaining letters and the </a:t>
            </a:r>
            <a:r>
              <a:rPr lang="en-GB" b="1" dirty="0"/>
              <a:t>ा </a:t>
            </a:r>
            <a:r>
              <a:rPr lang="en-GB" b="1" dirty="0" err="1"/>
              <a:t>मात्रा</a:t>
            </a:r>
            <a:r>
              <a:rPr lang="en-GB" dirty="0"/>
              <a:t> in the regular text colour.</a:t>
            </a:r>
          </a:p>
          <a:p>
            <a:r>
              <a:rPr lang="en-GB" b="1" dirty="0"/>
              <a:t>Correct Response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तोता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Attempt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taps </a:t>
            </a:r>
            <a:r>
              <a:rPr lang="en-GB" b="1" dirty="0" err="1"/>
              <a:t>नौका</a:t>
            </a:r>
            <a:r>
              <a:rPr lang="en-GB" dirty="0"/>
              <a:t> or </a:t>
            </a:r>
            <a:r>
              <a:rPr lang="en-GB" b="1" dirty="0" err="1"/>
              <a:t>कौआ</a:t>
            </a:r>
            <a:r>
              <a:rPr lang="en-GB" dirty="0"/>
              <a:t>, softly shake the selected coach, then 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any word or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the child to choose from all three options again.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पढ़िए</a:t>
            </a:r>
            <a:r>
              <a:rPr lang="en-GB" b="1" dirty="0"/>
              <a:t>। 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Attempt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selected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</a:t>
            </a:r>
            <a:r>
              <a:rPr lang="en-GB" b="1" dirty="0"/>
              <a:t>all three words</a:t>
            </a:r>
            <a:r>
              <a:rPr lang="en-GB" dirty="0"/>
              <a:t>, one by one, from left to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As </a:t>
            </a:r>
            <a:r>
              <a:rPr lang="en-GB" b="1" dirty="0" err="1"/>
              <a:t>नौका</a:t>
            </a:r>
            <a:r>
              <a:rPr lang="en-GB" dirty="0"/>
              <a:t> is spoken, highlight the complete </a:t>
            </a:r>
            <a:r>
              <a:rPr lang="en-GB" b="1" dirty="0"/>
              <a:t>ौ </a:t>
            </a:r>
            <a:r>
              <a:rPr lang="en-GB" b="1" dirty="0" err="1"/>
              <a:t>मात्रा</a:t>
            </a:r>
            <a:r>
              <a:rPr lang="en-GB" dirty="0"/>
              <a:t> attached to </a:t>
            </a:r>
            <a:r>
              <a:rPr lang="en-GB" b="1" dirty="0"/>
              <a:t>न</a:t>
            </a:r>
            <a:r>
              <a:rPr lang="en-GB" dirty="0"/>
              <a:t>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As </a:t>
            </a:r>
            <a:r>
              <a:rPr lang="en-GB" b="1" dirty="0" err="1"/>
              <a:t>तोता</a:t>
            </a:r>
            <a:r>
              <a:rPr lang="en-GB" dirty="0"/>
              <a:t> is spoken, highlight the complete </a:t>
            </a:r>
            <a:r>
              <a:rPr lang="en-GB" b="1" dirty="0"/>
              <a:t>ो </a:t>
            </a:r>
            <a:r>
              <a:rPr lang="en-GB" b="1" dirty="0" err="1"/>
              <a:t>मात्रा</a:t>
            </a:r>
            <a:r>
              <a:rPr lang="en-GB" dirty="0"/>
              <a:t> attached to the first </a:t>
            </a:r>
            <a:r>
              <a:rPr lang="en-GB" b="1" dirty="0"/>
              <a:t>त</a:t>
            </a:r>
            <a:r>
              <a:rPr lang="en-GB" dirty="0"/>
              <a:t>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As </a:t>
            </a:r>
            <a:r>
              <a:rPr lang="en-GB" b="1" dirty="0" err="1"/>
              <a:t>कौआ</a:t>
            </a:r>
            <a:r>
              <a:rPr lang="en-GB" dirty="0"/>
              <a:t> is spoken, highlight the complete </a:t>
            </a:r>
            <a:r>
              <a:rPr lang="en-GB" b="1" dirty="0"/>
              <a:t>ौ </a:t>
            </a:r>
            <a:r>
              <a:rPr lang="en-GB" b="1" dirty="0" err="1"/>
              <a:t>मात्रा</a:t>
            </a:r>
            <a:r>
              <a:rPr lang="en-GB" dirty="0"/>
              <a:t> attached to </a:t>
            </a:r>
            <a:r>
              <a:rPr lang="en-GB" b="1" dirty="0"/>
              <a:t>क</a:t>
            </a:r>
            <a:r>
              <a:rPr lang="en-GB" dirty="0"/>
              <a:t>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Include the upper strokes and right-side vertical stroke of each target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same highlighting style as the teaching screens.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consonants and headline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/>
              <a:t>ा</a:t>
            </a:r>
            <a:r>
              <a:rPr lang="en-GB" dirty="0"/>
              <a:t> in </a:t>
            </a:r>
            <a:r>
              <a:rPr lang="en-GB" b="1" dirty="0" err="1"/>
              <a:t>नौका</a:t>
            </a:r>
            <a:r>
              <a:rPr lang="en-GB" dirty="0"/>
              <a:t> and </a:t>
            </a:r>
            <a:r>
              <a:rPr lang="en-GB" b="1" dirty="0" err="1"/>
              <a:t>तोता</a:t>
            </a:r>
            <a:r>
              <a:rPr lang="en-GB" dirty="0"/>
              <a:t>, and the separate </a:t>
            </a:r>
            <a:r>
              <a:rPr lang="en-GB" b="1" dirty="0"/>
              <a:t>आ</a:t>
            </a:r>
            <a:r>
              <a:rPr lang="en-GB" dirty="0"/>
              <a:t> in </a:t>
            </a:r>
            <a:r>
              <a:rPr lang="en-GB" b="1" dirty="0" err="1"/>
              <a:t>कौआ</a:t>
            </a:r>
            <a:r>
              <a:rPr lang="en-GB" dirty="0"/>
              <a:t>, in the regular text colour.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Retain the target </a:t>
            </a:r>
            <a:r>
              <a:rPr lang="en-GB" dirty="0" err="1"/>
              <a:t>matra</a:t>
            </a:r>
            <a:r>
              <a:rPr lang="en-GB" dirty="0"/>
              <a:t> highlights in all three words so the child can compare.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add a correct-answer coach glow or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keep all three options available.</a:t>
            </a:r>
          </a:p>
          <a:p>
            <a:r>
              <a:rPr lang="en-GB" b="1" dirty="0"/>
              <a:t>VO, with a short pause between words: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नौका</a:t>
            </a:r>
            <a:r>
              <a:rPr lang="en-GB" b="1" dirty="0"/>
              <a:t>। </a:t>
            </a:r>
            <a:r>
              <a:rPr lang="en-GB" b="1" dirty="0" err="1"/>
              <a:t>तोता</a:t>
            </a:r>
            <a:r>
              <a:rPr lang="en-GB" b="1" dirty="0"/>
              <a:t>। </a:t>
            </a:r>
            <a:r>
              <a:rPr lang="en-GB" b="1" dirty="0" err="1"/>
              <a:t>कौआ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“ओ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Attempt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selected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</a:t>
            </a:r>
            <a:r>
              <a:rPr lang="en-GB" b="1" dirty="0" err="1"/>
              <a:t>तोता</a:t>
            </a:r>
            <a:r>
              <a:rPr lang="en-GB" dirty="0"/>
              <a:t> coach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</a:t>
            </a:r>
            <a:r>
              <a:rPr lang="en-GB" b="1" dirty="0"/>
              <a:t>hand nudge on the </a:t>
            </a:r>
            <a:r>
              <a:rPr lang="en-GB" b="1" dirty="0" err="1"/>
              <a:t>तोता</a:t>
            </a:r>
            <a:r>
              <a:rPr lang="en-GB" b="1" dirty="0"/>
              <a:t> coach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/>
              <a:t>ो</a:t>
            </a:r>
            <a:r>
              <a:rPr lang="en-GB" dirty="0"/>
              <a:t> inside </a:t>
            </a:r>
            <a:r>
              <a:rPr lang="en-GB" b="1" dirty="0" err="1"/>
              <a:t>तोता</a:t>
            </a:r>
            <a:r>
              <a:rPr lang="en-GB" dirty="0"/>
              <a:t> highlighted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</a:t>
            </a:r>
            <a:r>
              <a:rPr lang="en-GB" b="1" dirty="0" err="1"/>
              <a:t>नौका</a:t>
            </a:r>
            <a:r>
              <a:rPr lang="en-GB" dirty="0"/>
              <a:t> and </a:t>
            </a:r>
            <a:r>
              <a:rPr lang="en-GB" b="1" dirty="0" err="1"/>
              <a:t>कौआ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only </a:t>
            </a:r>
            <a:r>
              <a:rPr lang="en-GB" b="1" dirty="0" err="1"/>
              <a:t>तोता</a:t>
            </a:r>
            <a:r>
              <a:rPr lang="en-GB" dirty="0"/>
              <a:t> to be selected.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Wait for the child to tap it. Do not select the answer or advance automatically.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तोता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तोता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Correct Response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Accept the child’s tap on </a:t>
            </a:r>
            <a:r>
              <a:rPr lang="en-GB" b="1" dirty="0" err="1"/>
              <a:t>तोता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the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confetti/sparkle effect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correct word’s </a:t>
            </a:r>
            <a:r>
              <a:rPr lang="en-GB" b="1" dirty="0"/>
              <a:t>ो </a:t>
            </a:r>
            <a:r>
              <a:rPr lang="en-GB" b="1" dirty="0" err="1"/>
              <a:t>मात्रा</a:t>
            </a:r>
            <a:r>
              <a:rPr lang="en-GB" dirty="0"/>
              <a:t> highlighted.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the feedback finishes.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the answer.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train arrival/whistle sound during entry.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tap sound on selection.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attempt.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success chime on the correct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all SFX below the VO volume.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the child selects </a:t>
            </a:r>
            <a:r>
              <a:rPr lang="en-GB" b="1" dirty="0" err="1"/>
              <a:t>तोता</a:t>
            </a:r>
            <a:r>
              <a:rPr lang="en-GB" dirty="0"/>
              <a:t> and the feedback finishes.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option text and associated word audio </a:t>
            </a:r>
            <a:r>
              <a:rPr lang="en-GB" b="1" dirty="0" err="1"/>
              <a:t>नौका</a:t>
            </a:r>
            <a:r>
              <a:rPr lang="en-GB" b="1" dirty="0"/>
              <a:t>, </a:t>
            </a:r>
            <a:r>
              <a:rPr lang="en-GB" b="1" dirty="0" err="1"/>
              <a:t>तोता</a:t>
            </a:r>
            <a:r>
              <a:rPr lang="en-GB" b="1" dirty="0"/>
              <a:t>, </a:t>
            </a:r>
            <a:r>
              <a:rPr lang="en-GB" b="1" dirty="0" err="1"/>
              <a:t>कौआ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Count wrong taps across both incorrect options. Switching from </a:t>
            </a:r>
            <a:r>
              <a:rPr lang="en-GB" b="1" dirty="0" err="1"/>
              <a:t>नौका</a:t>
            </a:r>
            <a:r>
              <a:rPr lang="en-GB" dirty="0"/>
              <a:t> to </a:t>
            </a:r>
            <a:r>
              <a:rPr lang="en-GB" b="1" dirty="0" err="1"/>
              <a:t>कौआ</a:t>
            </a:r>
            <a:r>
              <a:rPr lang="en-GB" dirty="0"/>
              <a:t> must not reset the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Trigger Hint 1 after the first wrong tap, Hint 2 after the second, and Hint 3 after the third.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answers correctly at any earlier stage, accept the answer immediately and stop the hint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hand nudge appears </a:t>
            </a:r>
            <a:r>
              <a:rPr lang="en-GB" b="1" dirty="0"/>
              <a:t>only in Hint 3</a:t>
            </a:r>
            <a:r>
              <a:rPr lang="en-GB" dirty="0"/>
              <a:t> for this guided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Word Changes:</a:t>
            </a:r>
            <a:endParaRPr lang="en-GB" dirty="0"/>
          </a:p>
          <a:p>
            <a:r>
              <a:rPr lang="en-GB" dirty="0"/>
              <a:t>Use </a:t>
            </a:r>
            <a:r>
              <a:rPr lang="en-GB" b="1" dirty="0" err="1"/>
              <a:t>ढोल</a:t>
            </a:r>
            <a:r>
              <a:rPr lang="en-GB" b="1" dirty="0"/>
              <a:t>, </a:t>
            </a:r>
            <a:r>
              <a:rPr lang="en-GB" b="1" dirty="0" err="1"/>
              <a:t>तोता</a:t>
            </a:r>
            <a:r>
              <a:rPr lang="en-GB" b="1" dirty="0"/>
              <a:t>, </a:t>
            </a:r>
            <a:r>
              <a:rPr lang="en-GB" b="1" dirty="0" err="1"/>
              <a:t>कौआ</a:t>
            </a:r>
            <a:r>
              <a:rPr lang="en-GB" b="1" dirty="0"/>
              <a:t>, </a:t>
            </a:r>
            <a:r>
              <a:rPr lang="en-GB" b="1" dirty="0" err="1"/>
              <a:t>पौधा</a:t>
            </a:r>
            <a:r>
              <a:rPr lang="en-GB" dirty="0"/>
              <a:t>, with clear picture support.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ढोल</a:t>
            </a:r>
            <a:r>
              <a:rPr lang="en-GB" dirty="0"/>
              <a:t>, </a:t>
            </a:r>
            <a:r>
              <a:rPr lang="en-GB" dirty="0" err="1"/>
              <a:t>तोता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औ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कौआ</a:t>
            </a:r>
            <a:r>
              <a:rPr lang="en-GB" dirty="0"/>
              <a:t>, </a:t>
            </a:r>
            <a:r>
              <a:rPr lang="en-GB" dirty="0" err="1"/>
              <a:t>पौधा</a:t>
            </a:r>
            <a:endParaRPr lang="en-GB" dirty="0"/>
          </a:p>
          <a:p>
            <a:r>
              <a:rPr lang="en-GB" dirty="0"/>
              <a:t>Replace the current cards </a:t>
            </a:r>
            <a:r>
              <a:rPr lang="en-GB" b="1" dirty="0" err="1"/>
              <a:t>खिलौना</a:t>
            </a:r>
            <a:r>
              <a:rPr lang="en-GB" b="1" dirty="0"/>
              <a:t>, </a:t>
            </a:r>
            <a:r>
              <a:rPr lang="en-GB" b="1" dirty="0" err="1"/>
              <a:t>मोर</a:t>
            </a:r>
            <a:r>
              <a:rPr lang="en-GB" b="1" dirty="0"/>
              <a:t>, </a:t>
            </a:r>
            <a:r>
              <a:rPr lang="en-GB" b="1" dirty="0" err="1"/>
              <a:t>कौआ</a:t>
            </a:r>
            <a:r>
              <a:rPr lang="en-GB" b="1" dirty="0"/>
              <a:t>, </a:t>
            </a:r>
            <a:r>
              <a:rPr lang="en-GB" b="1" dirty="0" err="1"/>
              <a:t>घोड़ा</a:t>
            </a:r>
            <a:r>
              <a:rPr lang="en-GB" dirty="0"/>
              <a:t> with the updated set.</a:t>
            </a:r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हर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उसकी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train enters smoothly </a:t>
            </a:r>
            <a:r>
              <a:rPr lang="en-GB" b="1" dirty="0"/>
              <a:t>from right to left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stops at the centre of the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two coaches labelled </a:t>
            </a:r>
            <a:r>
              <a:rPr lang="en-GB" b="1" dirty="0"/>
              <a:t>ओ</a:t>
            </a:r>
            <a:r>
              <a:rPr lang="en-GB" dirty="0"/>
              <a:t> and </a:t>
            </a:r>
            <a:r>
              <a:rPr lang="en-GB" b="1" dirty="0"/>
              <a:t>औ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both drop areas empty.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Four draggable picture-and-word cards appear below the train in mixed order: </a:t>
            </a:r>
            <a:r>
              <a:rPr lang="en-GB" b="1" dirty="0" err="1"/>
              <a:t>पौधा</a:t>
            </a:r>
            <a:r>
              <a:rPr lang="en-GB" b="1" dirty="0"/>
              <a:t>, </a:t>
            </a:r>
            <a:r>
              <a:rPr lang="en-GB" b="1" dirty="0" err="1"/>
              <a:t>ढोल</a:t>
            </a:r>
            <a:r>
              <a:rPr lang="en-GB" b="1" dirty="0"/>
              <a:t>, </a:t>
            </a:r>
            <a:r>
              <a:rPr lang="en-GB" b="1" dirty="0" err="1"/>
              <a:t>कौआ</a:t>
            </a:r>
            <a:r>
              <a:rPr lang="en-GB" b="1" dirty="0"/>
              <a:t>, </a:t>
            </a:r>
            <a:r>
              <a:rPr lang="en-GB" b="1" dirty="0" err="1"/>
              <a:t>तोता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VO, then read each card’s word aloud before enabling interaction.</a:t>
            </a:r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heading at the top.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only </a:t>
            </a:r>
            <a:r>
              <a:rPr lang="en-GB" b="1" dirty="0"/>
              <a:t>ओ</a:t>
            </a:r>
            <a:r>
              <a:rPr lang="en-GB" dirty="0"/>
              <a:t> and </a:t>
            </a:r>
            <a:r>
              <a:rPr lang="en-GB" b="1" dirty="0"/>
              <a:t>औ</a:t>
            </a:r>
            <a:r>
              <a:rPr lang="en-GB" dirty="0"/>
              <a:t> as the coach labels.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Each card should show a clear picture with its word underneath.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Initially, keep all words in the regular text colour without </a:t>
            </a:r>
            <a:r>
              <a:rPr lang="en-GB" dirty="0" err="1"/>
              <a:t>matra</a:t>
            </a:r>
            <a:r>
              <a:rPr lang="en-GB" dirty="0"/>
              <a:t> highlights.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add extra instruction text in the play area.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r>
              <a:rPr lang="en-GB" b="1" dirty="0"/>
              <a:t>Image Requirements: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ढोल</a:t>
            </a:r>
            <a:r>
              <a:rPr lang="en-GB" b="1" dirty="0"/>
              <a:t>:</a:t>
            </a:r>
            <a:r>
              <a:rPr lang="en-GB" dirty="0"/>
              <a:t> A recognisable traditional drum with a cylindrical body, two drumheads and visible side lacing. Show it at an angle so its shape is clear.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तोता</a:t>
            </a:r>
            <a:r>
              <a:rPr lang="en-GB" b="1" dirty="0"/>
              <a:t>:</a:t>
            </a:r>
            <a:r>
              <a:rPr lang="en-GB" dirty="0"/>
              <a:t> A recognisable green parrot with a curved red beak and a long tail.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कौआ</a:t>
            </a:r>
            <a:r>
              <a:rPr lang="en-GB" b="1" dirty="0"/>
              <a:t>:</a:t>
            </a:r>
            <a:r>
              <a:rPr lang="en-GB" dirty="0"/>
              <a:t> A recognisable crow with dark feathers, a clear beak, wings and visible feet.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पौधा</a:t>
            </a:r>
            <a:r>
              <a:rPr lang="en-GB" b="1" dirty="0"/>
              <a:t>:</a:t>
            </a:r>
            <a:r>
              <a:rPr lang="en-GB" dirty="0"/>
              <a:t> A small green plant growing in soil, with a clearly visible stem and a few leaves.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Make the parrot and crow visually distinct.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consistent, child-friendly artwork with minimal background detail.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Pair every picture with its written word and spoken name.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हर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उसकी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Card-name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पौधा</a:t>
            </a:r>
            <a:r>
              <a:rPr lang="en-GB" b="1" dirty="0"/>
              <a:t>।” / “</a:t>
            </a:r>
            <a:r>
              <a:rPr lang="en-GB" b="1" dirty="0" err="1"/>
              <a:t>ढोल</a:t>
            </a:r>
            <a:r>
              <a:rPr lang="en-GB" b="1" dirty="0"/>
              <a:t>।” / “</a:t>
            </a:r>
            <a:r>
              <a:rPr lang="en-GB" b="1" dirty="0" err="1"/>
              <a:t>कौआ</a:t>
            </a:r>
            <a:r>
              <a:rPr lang="en-GB" b="1" dirty="0"/>
              <a:t>।” / “</a:t>
            </a:r>
            <a:r>
              <a:rPr lang="en-GB" b="1" dirty="0" err="1"/>
              <a:t>तोता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A tap on a card plays its name without counting as an answer attempt. Disable dragging while the word VO plays.</a:t>
            </a:r>
          </a:p>
          <a:p>
            <a:r>
              <a:rPr lang="en-GB" b="1" dirty="0"/>
              <a:t>Drag and Drop: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drags each card into the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Correct mapping:</a:t>
            </a:r>
          </a:p>
          <a:p>
            <a:r>
              <a:rPr lang="en-GB" dirty="0" err="1"/>
              <a:t>WordCorrect</a:t>
            </a:r>
            <a:r>
              <a:rPr lang="en-GB" dirty="0"/>
              <a:t> </a:t>
            </a:r>
            <a:r>
              <a:rPr lang="en-GB" dirty="0" err="1"/>
              <a:t>डिब्बाढोलओतोताओकौआऔपौधाऔ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Allow two cards inside each coach without overlap.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Slightly enlarge the selected card while dragging.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either coach the same neutral hover highlight when a card moves over it. This should not indicate whether the answer is correct.</a:t>
            </a:r>
          </a:p>
          <a:p>
            <a:r>
              <a:rPr lang="en-GB" b="1" dirty="0"/>
              <a:t>Correct Placement: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card inside the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the target </a:t>
            </a:r>
            <a:r>
              <a:rPr lang="en-GB" dirty="0" err="1"/>
              <a:t>matra</a:t>
            </a:r>
            <a:r>
              <a:rPr lang="en-GB" dirty="0"/>
              <a:t> inside the word.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correctly placed card so it cannot be dragged again.</a:t>
            </a:r>
          </a:p>
          <a:p>
            <a:r>
              <a:rPr lang="en-GB" b="1" dirty="0"/>
              <a:t>Correct Response VO — Play Only the Matching Line: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ढोल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तोता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कौआ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औ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पौधा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औ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Drop for That Card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dropped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a </a:t>
            </a:r>
            <a:r>
              <a:rPr lang="en-GB" dirty="0" err="1"/>
              <a:t>matra</a:t>
            </a:r>
            <a:r>
              <a:rPr lang="en-GB" dirty="0"/>
              <a:t> or the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another attempt.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पढ़िए</a:t>
            </a:r>
            <a:r>
              <a:rPr lang="en-GB" b="1" dirty="0"/>
              <a:t>। </a:t>
            </a:r>
            <a:r>
              <a:rPr lang="en-GB" b="1" dirty="0" err="1"/>
              <a:t>इस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उसकी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Drop for That Card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card and 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</a:t>
            </a:r>
            <a:r>
              <a:rPr lang="en-GB" b="1" dirty="0"/>
              <a:t>only the wrongly dropped word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its target </a:t>
            </a:r>
            <a:r>
              <a:rPr lang="en-GB" dirty="0" err="1"/>
              <a:t>matra</a:t>
            </a:r>
            <a:r>
              <a:rPr lang="en-GB" dirty="0"/>
              <a:t> in red using the teaching-screen style: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ढोल</a:t>
            </a:r>
            <a:r>
              <a:rPr lang="en-GB" b="1" dirty="0"/>
              <a:t>:</a:t>
            </a:r>
            <a:r>
              <a:rPr lang="en-GB" dirty="0"/>
              <a:t> Highlight the complete </a:t>
            </a:r>
            <a:r>
              <a:rPr lang="en-GB" b="1" dirty="0"/>
              <a:t>ो</a:t>
            </a:r>
            <a:r>
              <a:rPr lang="en-GB" dirty="0"/>
              <a:t> attached to </a:t>
            </a:r>
            <a:r>
              <a:rPr lang="en-GB" b="1" dirty="0"/>
              <a:t>ढ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तोता</a:t>
            </a:r>
            <a:r>
              <a:rPr lang="en-GB" b="1" dirty="0"/>
              <a:t>:</a:t>
            </a:r>
            <a:r>
              <a:rPr lang="en-GB" dirty="0"/>
              <a:t> Highlight the complete </a:t>
            </a:r>
            <a:r>
              <a:rPr lang="en-GB" b="1" dirty="0"/>
              <a:t>ो</a:t>
            </a:r>
            <a:r>
              <a:rPr lang="en-GB" dirty="0"/>
              <a:t> attached to the first </a:t>
            </a:r>
            <a:r>
              <a:rPr lang="en-GB" b="1" dirty="0"/>
              <a:t>त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कौआ</a:t>
            </a:r>
            <a:r>
              <a:rPr lang="en-GB" b="1" dirty="0"/>
              <a:t>:</a:t>
            </a:r>
            <a:r>
              <a:rPr lang="en-GB" dirty="0"/>
              <a:t> Highlight the complete </a:t>
            </a:r>
            <a:r>
              <a:rPr lang="en-GB" b="1" dirty="0"/>
              <a:t>ौ</a:t>
            </a:r>
            <a:r>
              <a:rPr lang="en-GB" dirty="0"/>
              <a:t> attached to </a:t>
            </a:r>
            <a:r>
              <a:rPr lang="en-GB" b="1" dirty="0"/>
              <a:t>क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पौधा</a:t>
            </a:r>
            <a:r>
              <a:rPr lang="en-GB" b="1" dirty="0"/>
              <a:t>:</a:t>
            </a:r>
            <a:r>
              <a:rPr lang="en-GB" dirty="0"/>
              <a:t> Highlight the complete </a:t>
            </a:r>
            <a:r>
              <a:rPr lang="en-GB" b="1" dirty="0"/>
              <a:t>ौ</a:t>
            </a:r>
            <a:r>
              <a:rPr lang="en-GB" dirty="0"/>
              <a:t> attached to </a:t>
            </a:r>
            <a:r>
              <a:rPr lang="en-GB" b="1" dirty="0"/>
              <a:t>प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Include the upper strokes and right-side vertical stroke of each target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/>
              <a:t>ा</a:t>
            </a:r>
            <a:r>
              <a:rPr lang="en-GB" dirty="0"/>
              <a:t> in </a:t>
            </a:r>
            <a:r>
              <a:rPr lang="en-GB" b="1" dirty="0" err="1"/>
              <a:t>तोता</a:t>
            </a:r>
            <a:r>
              <a:rPr lang="en-GB" dirty="0"/>
              <a:t> and </a:t>
            </a:r>
            <a:r>
              <a:rPr lang="en-GB" b="1" dirty="0" err="1"/>
              <a:t>पौधा</a:t>
            </a:r>
            <a:r>
              <a:rPr lang="en-GB" dirty="0"/>
              <a:t>, and the separate </a:t>
            </a:r>
            <a:r>
              <a:rPr lang="en-GB" b="1" dirty="0"/>
              <a:t>आ</a:t>
            </a:r>
            <a:r>
              <a:rPr lang="en-GB" dirty="0"/>
              <a:t> in </a:t>
            </a:r>
            <a:r>
              <a:rPr lang="en-GB" b="1" dirty="0" err="1"/>
              <a:t>कौआ</a:t>
            </a:r>
            <a:r>
              <a:rPr lang="en-GB" dirty="0"/>
              <a:t>, in the regular text colour.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consonants and headline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correct coach or show a hand.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the child to try either coach.</a:t>
            </a:r>
          </a:p>
          <a:p>
            <a:r>
              <a:rPr lang="en-GB" b="1" dirty="0"/>
              <a:t>Word VO — Play Only the Current Word: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ढोल</a:t>
            </a:r>
            <a:r>
              <a:rPr lang="en-GB" b="1" dirty="0"/>
              <a:t>।” / “</a:t>
            </a:r>
            <a:r>
              <a:rPr lang="en-GB" b="1" dirty="0" err="1"/>
              <a:t>तोता</a:t>
            </a:r>
            <a:r>
              <a:rPr lang="en-GB" b="1" dirty="0"/>
              <a:t>।” / “</a:t>
            </a:r>
            <a:r>
              <a:rPr lang="en-GB" b="1" dirty="0" err="1"/>
              <a:t>कौआ</a:t>
            </a:r>
            <a:r>
              <a:rPr lang="en-GB" b="1" dirty="0"/>
              <a:t>।” / “</a:t>
            </a:r>
            <a:r>
              <a:rPr lang="en-GB" b="1" dirty="0" err="1"/>
              <a:t>पौधा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“</a:t>
            </a:r>
            <a:r>
              <a:rPr lang="en-GB" b="1" dirty="0" err="1"/>
              <a:t>इस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उसकी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Drop for That Card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card and 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current card and its correct coach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</a:t>
            </a:r>
            <a:r>
              <a:rPr lang="en-GB" b="1" dirty="0"/>
              <a:t>hand drag nudge from the card to the correct coach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wrong coach as a destination for this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Temporarily disable other unfinished cards until this guided placement is complete.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the child to drag the current card only into its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place the card automatically.</a:t>
            </a:r>
          </a:p>
          <a:p>
            <a:r>
              <a:rPr lang="en-GB" b="1" dirty="0"/>
              <a:t>VO — Play Only the Matching Line: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ढोल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ओ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तोता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ओ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कौआ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औ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औ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पौधा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औ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औ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Correct Placement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card into the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the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target </a:t>
            </a:r>
            <a:r>
              <a:rPr lang="en-GB" dirty="0" err="1"/>
              <a:t>matra</a:t>
            </a:r>
            <a:r>
              <a:rPr lang="en-GB" dirty="0"/>
              <a:t> highlighted and lock the placed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the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Re-enable the remaining unfinished cards.</a:t>
            </a:r>
          </a:p>
          <a:p>
            <a:r>
              <a:rPr lang="en-GB" b="1" dirty="0"/>
              <a:t>Completion: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When all four cards are correctly placed, give both coaches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a brief train whistle with a subtle steam animation.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the feedback finishes.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extra completion VO is required.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train arrival/whistle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pick-up sound when dragging begins.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drop.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drop/success sound on correct placement.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SFX below the VO volume.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activity.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all four cards are correctly placed and feedback finishes.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Update the card images, written words, word audio and answer mappings to the new 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and drags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Maintain a </a:t>
            </a:r>
            <a:r>
              <a:rPr lang="en-GB" b="1" dirty="0"/>
              <a:t>separate wrong-attempt counter for each card</a:t>
            </a:r>
            <a:r>
              <a:rPr lang="en-GB" dirty="0"/>
              <a:t>. Each new card starts at zero.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switches cards, preserve each unfinished card’s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Count a drop into the wrong coach as one wrong attempt. A name-only tap or release outside both coaches does not count.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Trigger Hint 1 after the first wrong drop, Hint 2 after the second, and Hint 3 after the third for that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correctly placed cards locked throughout later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places a card correctly earlier, stop its hint sequence immediately.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 hand drag nudge </a:t>
            </a:r>
            <a:r>
              <a:rPr lang="en-GB" b="1" dirty="0"/>
              <a:t>only in Hint 3</a:t>
            </a:r>
            <a:r>
              <a:rPr lang="en-GB" dirty="0"/>
              <a:t> for this guided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train enters smoothly </a:t>
            </a:r>
            <a:r>
              <a:rPr lang="en-GB" b="1" dirty="0"/>
              <a:t>from right to left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stops at the centre of the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two coaches labelled </a:t>
            </a:r>
            <a:r>
              <a:rPr lang="en-GB" b="1" dirty="0"/>
              <a:t>ओ</a:t>
            </a:r>
            <a:r>
              <a:rPr lang="en-GB" dirty="0"/>
              <a:t> and </a:t>
            </a:r>
            <a:r>
              <a:rPr lang="en-GB" b="1" dirty="0"/>
              <a:t>औ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both drop areas empty.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two draggable </a:t>
            </a:r>
            <a:r>
              <a:rPr lang="en-GB" dirty="0" err="1"/>
              <a:t>matra</a:t>
            </a:r>
            <a:r>
              <a:rPr lang="en-GB" dirty="0"/>
              <a:t> cards below the train: </a:t>
            </a:r>
            <a:r>
              <a:rPr lang="en-GB" b="1" dirty="0"/>
              <a:t>◌ौ</a:t>
            </a:r>
            <a:r>
              <a:rPr lang="en-GB" dirty="0"/>
              <a:t> and </a:t>
            </a:r>
            <a:r>
              <a:rPr lang="en-GB" b="1" dirty="0"/>
              <a:t>◌ो</a:t>
            </a:r>
            <a:r>
              <a:rPr lang="en-GB" dirty="0"/>
              <a:t>, as in the attached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VO before enabling interaction.</a:t>
            </a:r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heading: </a:t>
            </a:r>
            <a:r>
              <a:rPr lang="en-GB" b="1" dirty="0"/>
              <a:t>“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only </a:t>
            </a:r>
            <a:r>
              <a:rPr lang="en-GB" b="1" dirty="0"/>
              <a:t>ओ</a:t>
            </a:r>
            <a:r>
              <a:rPr lang="en-GB" dirty="0"/>
              <a:t> and </a:t>
            </a:r>
            <a:r>
              <a:rPr lang="en-GB" b="1" dirty="0"/>
              <a:t>औ</a:t>
            </a:r>
            <a:r>
              <a:rPr lang="en-GB" dirty="0"/>
              <a:t> above the coaches.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add </a:t>
            </a:r>
            <a:r>
              <a:rPr lang="en-GB" dirty="0" err="1"/>
              <a:t>matra</a:t>
            </a:r>
            <a:r>
              <a:rPr lang="en-GB" dirty="0"/>
              <a:t> symbols to the coach labels.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both </a:t>
            </a:r>
            <a:r>
              <a:rPr lang="en-GB" dirty="0" err="1"/>
              <a:t>matra</a:t>
            </a:r>
            <a:r>
              <a:rPr lang="en-GB" dirty="0"/>
              <a:t> cards in the regular text colour initially.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a neutral dotted circle to display each </a:t>
            </a:r>
            <a:r>
              <a:rPr lang="en-GB" dirty="0" err="1"/>
              <a:t>matra</a:t>
            </a:r>
            <a:r>
              <a:rPr lang="en-GB" dirty="0"/>
              <a:t> clearly.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Drag and Drop: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drags each </a:t>
            </a:r>
            <a:r>
              <a:rPr lang="en-GB" dirty="0" err="1"/>
              <a:t>matra</a:t>
            </a:r>
            <a:r>
              <a:rPr lang="en-GB" dirty="0"/>
              <a:t> card into its matching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Correct mapping: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◌ो → ओ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◌ौ → औ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Allow only one </a:t>
            </a:r>
            <a:r>
              <a:rPr lang="en-GB" dirty="0" err="1"/>
              <a:t>matra</a:t>
            </a:r>
            <a:r>
              <a:rPr lang="en-GB" dirty="0"/>
              <a:t> card inside each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Slightly enlarge the selected card while dragging.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same neutral hover highlight for either coach. It should not reveal whether the destination is correct.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announce the </a:t>
            </a:r>
            <a:r>
              <a:rPr lang="en-GB" dirty="0" err="1"/>
              <a:t>matra’s</a:t>
            </a:r>
            <a:r>
              <a:rPr lang="en-GB" dirty="0"/>
              <a:t> name on initial pick-up, as this would identify its matching coach.</a:t>
            </a:r>
          </a:p>
          <a:p>
            <a:r>
              <a:rPr lang="en-GB" b="1" dirty="0"/>
              <a:t>Correct Placement: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</a:t>
            </a:r>
            <a:r>
              <a:rPr lang="en-GB" dirty="0" err="1"/>
              <a:t>matra</a:t>
            </a:r>
            <a:r>
              <a:rPr lang="en-GB" dirty="0"/>
              <a:t> card inside the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the complete </a:t>
            </a:r>
            <a:r>
              <a:rPr lang="en-GB" dirty="0" err="1"/>
              <a:t>matra</a:t>
            </a:r>
            <a:r>
              <a:rPr lang="en-GB" dirty="0"/>
              <a:t> strokes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dotted circle neutral.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correctly placed card.</a:t>
            </a:r>
          </a:p>
          <a:p>
            <a:r>
              <a:rPr lang="en-GB" b="1" dirty="0"/>
              <a:t>Correct Response VO — Play Only the Matching Line:</a:t>
            </a:r>
            <a:endParaRPr lang="en-GB" dirty="0"/>
          </a:p>
          <a:p>
            <a:r>
              <a:rPr lang="en-GB" dirty="0"/>
              <a:t>For </a:t>
            </a:r>
            <a:r>
              <a:rPr lang="en-GB" b="1" dirty="0"/>
              <a:t>◌ो</a:t>
            </a:r>
            <a:r>
              <a:rPr lang="en-GB" dirty="0"/>
              <a:t>:</a:t>
            </a:r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यह</a:t>
            </a:r>
            <a:r>
              <a:rPr lang="en-GB" b="1" dirty="0"/>
              <a:t> 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For </a:t>
            </a:r>
            <a:r>
              <a:rPr lang="en-GB" b="1" dirty="0"/>
              <a:t>◌ौ</a:t>
            </a:r>
            <a:r>
              <a:rPr lang="en-GB" dirty="0"/>
              <a:t>:</a:t>
            </a:r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यह</a:t>
            </a:r>
            <a:r>
              <a:rPr lang="en-GB" b="1" dirty="0"/>
              <a:t> औ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Drop for That Card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dropped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</a:t>
            </a:r>
            <a:r>
              <a:rPr lang="en-GB" dirty="0" err="1"/>
              <a:t>matra</a:t>
            </a:r>
            <a:r>
              <a:rPr lang="en-GB" dirty="0"/>
              <a:t> or either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another attempt.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Drop for That Card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card and return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Slightly enlarge </a:t>
            </a:r>
            <a:r>
              <a:rPr lang="en-GB" b="1" dirty="0"/>
              <a:t>only the wrongly dropped </a:t>
            </a:r>
            <a:r>
              <a:rPr lang="en-GB" b="1" dirty="0" err="1"/>
              <a:t>matra</a:t>
            </a:r>
            <a:r>
              <a:rPr lang="en-GB" b="1" dirty="0"/>
              <a:t> card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its complete </a:t>
            </a:r>
            <a:r>
              <a:rPr lang="en-GB" dirty="0" err="1"/>
              <a:t>matra</a:t>
            </a:r>
            <a:r>
              <a:rPr lang="en-GB" dirty="0"/>
              <a:t> strokes in red using the teaching-screen style.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For </a:t>
            </a:r>
            <a:r>
              <a:rPr lang="en-GB" b="1" dirty="0"/>
              <a:t>◌ो</a:t>
            </a:r>
            <a:r>
              <a:rPr lang="en-GB" dirty="0"/>
              <a:t>, trace its single upper stroke and right-side vertical stroke.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For </a:t>
            </a:r>
            <a:r>
              <a:rPr lang="en-GB" b="1" dirty="0"/>
              <a:t>◌ौ</a:t>
            </a:r>
            <a:r>
              <a:rPr lang="en-GB" dirty="0"/>
              <a:t>, trace its two upper strokes and right-side vertical stroke.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dotted circle neutral.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both coach labels visible without highlighting the correct 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announce the </a:t>
            </a:r>
            <a:r>
              <a:rPr lang="en-GB" dirty="0" err="1"/>
              <a:t>matra’s</a:t>
            </a:r>
            <a:r>
              <a:rPr lang="en-GB" dirty="0"/>
              <a:t> name or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return the card to its normal size and allow another attempt.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का</a:t>
            </a:r>
            <a:r>
              <a:rPr lang="en-GB" b="1" dirty="0"/>
              <a:t> </a:t>
            </a:r>
            <a:r>
              <a:rPr lang="en-GB" b="1" dirty="0" err="1"/>
              <a:t>आकार</a:t>
            </a:r>
            <a:r>
              <a:rPr lang="en-GB" b="1" dirty="0"/>
              <a:t> </a:t>
            </a:r>
            <a:r>
              <a:rPr lang="en-GB" b="1" dirty="0" err="1"/>
              <a:t>ध्यान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Drop for That Card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card and return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current </a:t>
            </a:r>
            <a:r>
              <a:rPr lang="en-GB" dirty="0" err="1"/>
              <a:t>matra</a:t>
            </a:r>
            <a:r>
              <a:rPr lang="en-GB" dirty="0"/>
              <a:t> card and its correct coach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</a:t>
            </a:r>
            <a:r>
              <a:rPr lang="en-GB" b="1" dirty="0"/>
              <a:t>hand drag nudge from the card to the correct coach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wrong coach as a destination for this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Temporarily disable the other unfinished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only the correct placement.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Wait for the child to complete the drag. Do not place the card automatically.</a:t>
            </a:r>
          </a:p>
          <a:p>
            <a:r>
              <a:rPr lang="en-GB" b="1" dirty="0"/>
              <a:t>VO for ◌ो: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यह</a:t>
            </a:r>
            <a:r>
              <a:rPr lang="en-GB" b="1" dirty="0"/>
              <a:t> 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ओ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VO for ◌ौ: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यह</a:t>
            </a:r>
            <a:r>
              <a:rPr lang="en-GB" b="1" dirty="0"/>
              <a:t> औ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औ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Correct Placement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card inside the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the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placed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the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Re-enable the remaining card, if any.</a:t>
            </a:r>
          </a:p>
          <a:p>
            <a:r>
              <a:rPr lang="en-GB" b="1" dirty="0"/>
              <a:t>Completion: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When both </a:t>
            </a:r>
            <a:r>
              <a:rPr lang="en-GB" dirty="0" err="1"/>
              <a:t>matras</a:t>
            </a:r>
            <a:r>
              <a:rPr lang="en-GB" dirty="0"/>
              <a:t> are placed correctly, give both coaches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a brief train whistle with a subtle steam animation.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the feedback finishes.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extra completion VO is required.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train arrival/whistle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pick-up sound when dragging begins.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drop.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success chime on correct placement.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SFX below the VO volume.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both </a:t>
            </a:r>
            <a:r>
              <a:rPr lang="en-GB" dirty="0" err="1"/>
              <a:t>matras</a:t>
            </a:r>
            <a:r>
              <a:rPr lang="en-GB" dirty="0"/>
              <a:t> are correctly placed and feedback finishes.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and drags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Maintain a separate wrong-attempt counter for each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Each card starts at zero. Switching cards must not reset an existing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Count a drop into the wrong coach as one wrong attempt. Releasing outside both coaches simply returns the card without adding an attempt.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correctly placed cards locked. A wrong drop onto an occupied coach should return the dragged card without disturbing the placed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answers correctly earlier, stop that card’s hint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 hand drag nudge </a:t>
            </a:r>
            <a:r>
              <a:rPr lang="en-GB" b="1" dirty="0"/>
              <a:t>only in Hint 3</a:t>
            </a:r>
            <a:r>
              <a:rPr lang="en-GB" dirty="0"/>
              <a:t> for this guided activity.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With only two cards, the second placement may be completed by elimination. Treat this screen as supported matching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Word Changes:</a:t>
            </a:r>
            <a:endParaRPr lang="en-GB" dirty="0"/>
          </a:p>
          <a:p>
            <a:r>
              <a:rPr lang="en-GB" dirty="0"/>
              <a:t>Use </a:t>
            </a:r>
            <a:r>
              <a:rPr lang="en-GB" b="1" dirty="0" err="1"/>
              <a:t>मोर</a:t>
            </a:r>
            <a:r>
              <a:rPr lang="en-GB" b="1" dirty="0"/>
              <a:t>, </a:t>
            </a:r>
            <a:r>
              <a:rPr lang="en-GB" b="1" dirty="0" err="1"/>
              <a:t>ढोल</a:t>
            </a:r>
            <a:r>
              <a:rPr lang="en-GB" b="1" dirty="0"/>
              <a:t>, </a:t>
            </a:r>
            <a:r>
              <a:rPr lang="en-GB" b="1" dirty="0" err="1"/>
              <a:t>पौधा</a:t>
            </a:r>
            <a:r>
              <a:rPr lang="en-GB" dirty="0"/>
              <a:t>. All three are familiar words that can be represented with clear pictures.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मोर</a:t>
            </a:r>
            <a:r>
              <a:rPr lang="en-GB" dirty="0"/>
              <a:t> and </a:t>
            </a:r>
            <a:r>
              <a:rPr lang="en-GB" b="1" dirty="0" err="1"/>
              <a:t>ढोल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Replace </a:t>
            </a:r>
            <a:r>
              <a:rPr lang="en-GB" b="1" dirty="0" err="1"/>
              <a:t>कौआ</a:t>
            </a:r>
            <a:r>
              <a:rPr lang="en-GB" dirty="0"/>
              <a:t> with </a:t>
            </a:r>
            <a:r>
              <a:rPr lang="en-GB" b="1" dirty="0" err="1"/>
              <a:t>पौधा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</a:t>
            </a:r>
            <a:r>
              <a:rPr lang="en-GB" b="1" dirty="0" err="1"/>
              <a:t>मो</a:t>
            </a:r>
            <a:r>
              <a:rPr lang="en-GB" b="1" dirty="0"/>
              <a:t>, </a:t>
            </a:r>
            <a:r>
              <a:rPr lang="en-GB" b="1" dirty="0" err="1"/>
              <a:t>ढो</a:t>
            </a:r>
            <a:r>
              <a:rPr lang="en-GB" b="1" dirty="0"/>
              <a:t>, </a:t>
            </a:r>
            <a:r>
              <a:rPr lang="en-GB" b="1" dirty="0" err="1"/>
              <a:t>पौ</a:t>
            </a:r>
            <a:r>
              <a:rPr lang="en-GB" dirty="0"/>
              <a:t> as the correct </a:t>
            </a:r>
            <a:r>
              <a:rPr lang="en-GB" dirty="0" err="1"/>
              <a:t>अक्षर</a:t>
            </a:r>
            <a:r>
              <a:rPr lang="en-GB" dirty="0"/>
              <a:t> options.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</a:t>
            </a:r>
            <a:r>
              <a:rPr lang="en-GB" b="1" dirty="0" err="1"/>
              <a:t>नौ</a:t>
            </a:r>
            <a:r>
              <a:rPr lang="en-GB" b="1" dirty="0"/>
              <a:t>, </a:t>
            </a:r>
            <a:r>
              <a:rPr lang="en-GB" b="1" dirty="0" err="1"/>
              <a:t>कौ</a:t>
            </a:r>
            <a:r>
              <a:rPr lang="en-GB" dirty="0"/>
              <a:t> as distractors.</a:t>
            </a:r>
          </a:p>
          <a:p>
            <a:r>
              <a:rPr lang="en-GB" b="1" dirty="0"/>
              <a:t>Activity Concept: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train with </a:t>
            </a:r>
            <a:r>
              <a:rPr lang="en-GB" b="1" dirty="0"/>
              <a:t>three coaches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Each coach contains a blank for the </a:t>
            </a:r>
            <a:r>
              <a:rPr lang="en-GB" b="1" dirty="0"/>
              <a:t>first </a:t>
            </a:r>
            <a:r>
              <a:rPr lang="en-GB" b="1" dirty="0" err="1"/>
              <a:t>अक्षर</a:t>
            </a:r>
            <a:r>
              <a:rPr lang="en-GB" dirty="0"/>
              <a:t>, followed by the remaining part of the word.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looks at the picture and drags the correct </a:t>
            </a:r>
            <a:r>
              <a:rPr lang="en-GB" dirty="0" err="1"/>
              <a:t>अक्षर</a:t>
            </a:r>
            <a:r>
              <a:rPr lang="en-GB" dirty="0"/>
              <a:t>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whole </a:t>
            </a:r>
            <a:r>
              <a:rPr lang="en-GB" dirty="0" err="1"/>
              <a:t>अक्षर</a:t>
            </a:r>
            <a:r>
              <a:rPr lang="en-GB" dirty="0"/>
              <a:t> options rather than separate </a:t>
            </a:r>
            <a:r>
              <a:rPr lang="en-GB" dirty="0" err="1"/>
              <a:t>matra</a:t>
            </a:r>
            <a:r>
              <a:rPr lang="en-GB" dirty="0"/>
              <a:t> symbols.</a:t>
            </a:r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अक्षर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these pictures and incomplete words:</a:t>
            </a:r>
          </a:p>
          <a:p>
            <a:r>
              <a:rPr lang="en-GB" dirty="0" err="1"/>
              <a:t>PictureIncomplete</a:t>
            </a:r>
            <a:r>
              <a:rPr lang="en-GB" dirty="0"/>
              <a:t> </a:t>
            </a:r>
            <a:r>
              <a:rPr lang="en-GB" dirty="0" err="1"/>
              <a:t>WordCorrect</a:t>
            </a:r>
            <a:r>
              <a:rPr lang="en-GB" dirty="0"/>
              <a:t> </a:t>
            </a:r>
            <a:r>
              <a:rPr lang="en-GB" dirty="0" err="1"/>
              <a:t>OptionCompleted</a:t>
            </a:r>
            <a:r>
              <a:rPr lang="en-GB" dirty="0"/>
              <a:t> </a:t>
            </a:r>
            <a:r>
              <a:rPr lang="en-GB" dirty="0" err="1"/>
              <a:t>WordPeacock</a:t>
            </a:r>
            <a:r>
              <a:rPr lang="en-GB" b="1" dirty="0" err="1"/>
              <a:t>_रमोमोर</a:t>
            </a:r>
            <a:r>
              <a:rPr lang="en-GB" dirty="0" err="1"/>
              <a:t>Drum</a:t>
            </a:r>
            <a:r>
              <a:rPr lang="en-GB" b="1" dirty="0" err="1"/>
              <a:t>_लढोढोल</a:t>
            </a:r>
            <a:r>
              <a:rPr lang="en-GB" dirty="0" err="1"/>
              <a:t>Plant</a:t>
            </a:r>
            <a:r>
              <a:rPr lang="en-GB" b="1" dirty="0" err="1"/>
              <a:t>_धापौपौधा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Replace the crow picture above the third coach with a </a:t>
            </a:r>
            <a:r>
              <a:rPr lang="en-GB" b="1" dirty="0"/>
              <a:t>small green plant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Change the third incomplete word from </a:t>
            </a:r>
            <a:r>
              <a:rPr lang="en-GB" b="1" dirty="0"/>
              <a:t>_आ</a:t>
            </a:r>
            <a:r>
              <a:rPr lang="en-GB" dirty="0"/>
              <a:t> to </a:t>
            </a:r>
            <a:r>
              <a:rPr lang="en-GB" b="1" dirty="0"/>
              <a:t>_</a:t>
            </a:r>
            <a:r>
              <a:rPr lang="en-GB" b="1" dirty="0" err="1"/>
              <a:t>धा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five draggable options in this mixed order: </a:t>
            </a:r>
            <a:r>
              <a:rPr lang="en-GB" b="1" dirty="0" err="1"/>
              <a:t>मो</a:t>
            </a:r>
            <a:r>
              <a:rPr lang="en-GB" b="1" dirty="0"/>
              <a:t>, </a:t>
            </a:r>
            <a:r>
              <a:rPr lang="en-GB" b="1" dirty="0" err="1"/>
              <a:t>नौ</a:t>
            </a:r>
            <a:r>
              <a:rPr lang="en-GB" b="1" dirty="0"/>
              <a:t>, </a:t>
            </a:r>
            <a:r>
              <a:rPr lang="en-GB" b="1" dirty="0" err="1"/>
              <a:t>ढो</a:t>
            </a:r>
            <a:r>
              <a:rPr lang="en-GB" b="1" dirty="0"/>
              <a:t>, </a:t>
            </a:r>
            <a:r>
              <a:rPr lang="en-GB" b="1" dirty="0" err="1"/>
              <a:t>पौ</a:t>
            </a:r>
            <a:r>
              <a:rPr lang="en-GB" b="1" dirty="0"/>
              <a:t>, </a:t>
            </a:r>
            <a:r>
              <a:rPr lang="en-GB" b="1" dirty="0" err="1"/>
              <a:t>कौ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नौ</a:t>
            </a:r>
            <a:r>
              <a:rPr lang="en-GB" dirty="0"/>
              <a:t> and </a:t>
            </a:r>
            <a:r>
              <a:rPr lang="en-GB" b="1" dirty="0" err="1"/>
              <a:t>कौ</a:t>
            </a:r>
            <a:r>
              <a:rPr lang="en-GB" dirty="0"/>
              <a:t> do not correctly complete any pictured word.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complete words or highlight </a:t>
            </a:r>
            <a:r>
              <a:rPr lang="en-GB" dirty="0" err="1"/>
              <a:t>matras</a:t>
            </a:r>
            <a:r>
              <a:rPr lang="en-GB" dirty="0"/>
              <a:t> initially.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train UI/UX style unchanged.</a:t>
            </a:r>
          </a:p>
          <a:p>
            <a:r>
              <a:rPr lang="en-GB" b="1" dirty="0"/>
              <a:t>Image Requirements: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मोर</a:t>
            </a:r>
            <a:r>
              <a:rPr lang="en-GB" b="1" dirty="0"/>
              <a:t>:</a:t>
            </a:r>
            <a:r>
              <a:rPr lang="en-GB" dirty="0"/>
              <a:t> A recognisable peacock with a blue neck, head crest and clearly visible colourful tail feathers.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ढोल</a:t>
            </a:r>
            <a:r>
              <a:rPr lang="en-GB" b="1" dirty="0"/>
              <a:t>:</a:t>
            </a:r>
            <a:r>
              <a:rPr lang="en-GB" dirty="0"/>
              <a:t> A recognisable drum with a cylindrical body, two drumheads and visible side lacing. Keep its shape clear.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पौधा</a:t>
            </a:r>
            <a:r>
              <a:rPr lang="en-GB" b="1" dirty="0"/>
              <a:t>:</a:t>
            </a:r>
            <a:r>
              <a:rPr lang="en-GB" dirty="0"/>
              <a:t> A small green plant growing in soil, with a visible stem and a few leaves. Show a young plant rather than a large tree.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all pictures large enough to recognise.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a consistent, child-friendly illustration style with minimal background detail.</a:t>
            </a:r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train enters smoothly </a:t>
            </a:r>
            <a:r>
              <a:rPr lang="en-GB" b="1" dirty="0"/>
              <a:t>from right to left</a:t>
            </a:r>
            <a:r>
              <a:rPr lang="en-GB" dirty="0"/>
              <a:t> and stops at the centre.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Picture cards appear above the coaches.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Incomplete words appear inside the coaches.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अक्षर</a:t>
            </a:r>
            <a:r>
              <a:rPr lang="en-GB" dirty="0"/>
              <a:t> options slide up from the bottom.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VO before enabling interaction.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अक्षर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Option VO:</a:t>
            </a:r>
            <a:endParaRPr lang="en-GB" dirty="0"/>
          </a:p>
          <a:p>
            <a:r>
              <a:rPr lang="en-GB" dirty="0"/>
              <a:t>Tapping an </a:t>
            </a:r>
            <a:r>
              <a:rPr lang="en-GB" dirty="0" err="1"/>
              <a:t>अक्षर</a:t>
            </a:r>
            <a:r>
              <a:rPr lang="en-GB" dirty="0"/>
              <a:t> card plays only its sound:</a:t>
            </a:r>
          </a:p>
          <a:p>
            <a:r>
              <a:rPr lang="en-GB" b="1" dirty="0"/>
              <a:t>“</a:t>
            </a:r>
            <a:r>
              <a:rPr lang="en-GB" b="1" dirty="0" err="1"/>
              <a:t>मो</a:t>
            </a:r>
            <a:r>
              <a:rPr lang="en-GB" b="1" dirty="0"/>
              <a:t>।” / “</a:t>
            </a:r>
            <a:r>
              <a:rPr lang="en-GB" b="1" dirty="0" err="1"/>
              <a:t>नौ</a:t>
            </a:r>
            <a:r>
              <a:rPr lang="en-GB" b="1" dirty="0"/>
              <a:t>।” / “</a:t>
            </a:r>
            <a:r>
              <a:rPr lang="en-GB" b="1" dirty="0" err="1"/>
              <a:t>ढो</a:t>
            </a:r>
            <a:r>
              <a:rPr lang="en-GB" b="1" dirty="0"/>
              <a:t>।” / “</a:t>
            </a:r>
            <a:r>
              <a:rPr lang="en-GB" b="1" dirty="0" err="1"/>
              <a:t>पौ</a:t>
            </a:r>
            <a:r>
              <a:rPr lang="en-GB" b="1" dirty="0"/>
              <a:t>।” / “</a:t>
            </a:r>
            <a:r>
              <a:rPr lang="en-GB" b="1" dirty="0" err="1"/>
              <a:t>कौ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sound-only tap does not count as an answer attempt.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dragging while the VO plays.</a:t>
            </a:r>
          </a:p>
          <a:p>
            <a:r>
              <a:rPr lang="en-GB" b="1" dirty="0"/>
              <a:t>Drag and Drop: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drags an </a:t>
            </a:r>
            <a:r>
              <a:rPr lang="en-GB" dirty="0" err="1"/>
              <a:t>अक्षर</a:t>
            </a:r>
            <a:r>
              <a:rPr lang="en-GB" dirty="0"/>
              <a:t> into a word’s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Correct combinations: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मो</a:t>
            </a:r>
            <a:r>
              <a:rPr lang="en-GB" b="1" dirty="0"/>
              <a:t> + र = </a:t>
            </a:r>
            <a:r>
              <a:rPr lang="en-GB" b="1" dirty="0" err="1"/>
              <a:t>मोर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ढो</a:t>
            </a:r>
            <a:r>
              <a:rPr lang="en-GB" b="1" dirty="0"/>
              <a:t> + ल = </a:t>
            </a:r>
            <a:r>
              <a:rPr lang="en-GB" b="1" dirty="0" err="1"/>
              <a:t>ढोल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पौ</a:t>
            </a:r>
            <a:r>
              <a:rPr lang="en-GB" b="1" dirty="0"/>
              <a:t> + </a:t>
            </a:r>
            <a:r>
              <a:rPr lang="en-GB" b="1" dirty="0" err="1"/>
              <a:t>धा</a:t>
            </a:r>
            <a:r>
              <a:rPr lang="en-GB" b="1" dirty="0"/>
              <a:t> = </a:t>
            </a:r>
            <a:r>
              <a:rPr lang="en-GB" b="1" dirty="0" err="1"/>
              <a:t>पौधा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Slightly enlarge the selected card while dragging.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each blank the same neutral hover highlight, without indicating whether the option is correct.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Accept a placement only when the completed word matches the picture.</a:t>
            </a:r>
          </a:p>
          <a:p>
            <a:r>
              <a:rPr lang="en-GB" b="1" dirty="0"/>
              <a:t>Correct Placement: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</a:t>
            </a:r>
            <a:r>
              <a:rPr lang="en-GB" dirty="0" err="1"/>
              <a:t>अक्षर</a:t>
            </a:r>
            <a:r>
              <a:rPr lang="en-GB" dirty="0"/>
              <a:t>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 completed word.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its target </a:t>
            </a:r>
            <a:r>
              <a:rPr lang="en-GB" dirty="0" err="1"/>
              <a:t>matra</a:t>
            </a:r>
            <a:r>
              <a:rPr lang="en-GB" dirty="0"/>
              <a:t> in red: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मोर</a:t>
            </a:r>
            <a:r>
              <a:rPr lang="en-GB" b="1" dirty="0"/>
              <a:t>:</a:t>
            </a:r>
            <a:r>
              <a:rPr lang="en-GB" dirty="0"/>
              <a:t> Highlight </a:t>
            </a:r>
            <a:r>
              <a:rPr lang="en-GB" b="1" dirty="0"/>
              <a:t>ो</a:t>
            </a:r>
            <a:r>
              <a:rPr lang="en-GB" dirty="0"/>
              <a:t> attached to </a:t>
            </a:r>
            <a:r>
              <a:rPr lang="en-GB" b="1" dirty="0"/>
              <a:t>म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ढोल</a:t>
            </a:r>
            <a:r>
              <a:rPr lang="en-GB" b="1" dirty="0"/>
              <a:t>:</a:t>
            </a:r>
            <a:r>
              <a:rPr lang="en-GB" dirty="0"/>
              <a:t> Highlight </a:t>
            </a:r>
            <a:r>
              <a:rPr lang="en-GB" b="1" dirty="0"/>
              <a:t>ो</a:t>
            </a:r>
            <a:r>
              <a:rPr lang="en-GB" dirty="0"/>
              <a:t> attached to </a:t>
            </a:r>
            <a:r>
              <a:rPr lang="en-GB" b="1" dirty="0"/>
              <a:t>ढ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पौधा</a:t>
            </a:r>
            <a:r>
              <a:rPr lang="en-GB" b="1" dirty="0"/>
              <a:t>:</a:t>
            </a:r>
            <a:r>
              <a:rPr lang="en-GB" dirty="0"/>
              <a:t> Highlight </a:t>
            </a:r>
            <a:r>
              <a:rPr lang="en-GB" b="1" dirty="0"/>
              <a:t>ौ</a:t>
            </a:r>
            <a:r>
              <a:rPr lang="en-GB" dirty="0"/>
              <a:t> attached to </a:t>
            </a:r>
            <a:r>
              <a:rPr lang="en-GB" b="1" dirty="0"/>
              <a:t>प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/>
              <a:t>ा</a:t>
            </a:r>
            <a:r>
              <a:rPr lang="en-GB" dirty="0"/>
              <a:t> in </a:t>
            </a:r>
            <a:r>
              <a:rPr lang="en-GB" b="1" dirty="0" err="1"/>
              <a:t>धा</a:t>
            </a:r>
            <a:r>
              <a:rPr lang="en-GB" dirty="0"/>
              <a:t> in the regular text colour.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completed word and its used </a:t>
            </a:r>
            <a:r>
              <a:rPr lang="en-GB" dirty="0" err="1"/>
              <a:t>अक्षर</a:t>
            </a:r>
            <a:r>
              <a:rPr lang="en-GB" dirty="0"/>
              <a:t> card.</a:t>
            </a:r>
          </a:p>
          <a:p>
            <a:r>
              <a:rPr lang="en-GB" b="1" dirty="0"/>
              <a:t>Correct Response VO — Play Only the Matching Line: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मोर</a:t>
            </a:r>
            <a:r>
              <a:rPr lang="en-GB" b="1" dirty="0"/>
              <a:t> </a:t>
            </a:r>
            <a:r>
              <a:rPr lang="en-GB" b="1" dirty="0" err="1"/>
              <a:t>बन</a:t>
            </a:r>
            <a:r>
              <a:rPr lang="en-GB" b="1" dirty="0"/>
              <a:t> </a:t>
            </a:r>
            <a:r>
              <a:rPr lang="en-GB" b="1" dirty="0" err="1"/>
              <a:t>गया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ढोल</a:t>
            </a:r>
            <a:r>
              <a:rPr lang="en-GB" b="1" dirty="0"/>
              <a:t> </a:t>
            </a:r>
            <a:r>
              <a:rPr lang="en-GB" b="1" dirty="0" err="1"/>
              <a:t>बन</a:t>
            </a:r>
            <a:r>
              <a:rPr lang="en-GB" b="1" dirty="0"/>
              <a:t> </a:t>
            </a:r>
            <a:r>
              <a:rPr lang="en-GB" b="1" dirty="0" err="1"/>
              <a:t>गया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पौधा</a:t>
            </a:r>
            <a:r>
              <a:rPr lang="en-GB" b="1" dirty="0"/>
              <a:t> </a:t>
            </a:r>
            <a:r>
              <a:rPr lang="en-GB" b="1" dirty="0" err="1"/>
              <a:t>बन</a:t>
            </a:r>
            <a:r>
              <a:rPr lang="en-GB" b="1" dirty="0"/>
              <a:t> </a:t>
            </a:r>
            <a:r>
              <a:rPr lang="en-GB" b="1" dirty="0" err="1"/>
              <a:t>गया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dropped </a:t>
            </a:r>
            <a:r>
              <a:rPr lang="en-GB" dirty="0" err="1"/>
              <a:t>अक्षर</a:t>
            </a:r>
            <a:r>
              <a:rPr lang="en-GB" dirty="0"/>
              <a:t>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correct </a:t>
            </a:r>
            <a:r>
              <a:rPr lang="en-GB" dirty="0" err="1"/>
              <a:t>अक्षर</a:t>
            </a:r>
            <a:r>
              <a:rPr lang="en-GB" dirty="0"/>
              <a:t> or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another attempt.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 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अक्षर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card and return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</a:t>
            </a:r>
            <a:r>
              <a:rPr lang="en-GB" b="1" dirty="0"/>
              <a:t>only the wrongly dropped </a:t>
            </a:r>
            <a:r>
              <a:rPr lang="en-GB" b="1" dirty="0" err="1"/>
              <a:t>अक्षर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Slightly enlarge that card and highlight its </a:t>
            </a:r>
            <a:r>
              <a:rPr lang="en-GB" dirty="0" err="1"/>
              <a:t>matra</a:t>
            </a:r>
            <a:r>
              <a:rPr lang="en-GB" dirty="0"/>
              <a:t> in red: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मो</a:t>
            </a:r>
            <a:r>
              <a:rPr lang="en-GB" b="1" dirty="0"/>
              <a:t>, </a:t>
            </a:r>
            <a:r>
              <a:rPr lang="en-GB" b="1" dirty="0" err="1"/>
              <a:t>ढो</a:t>
            </a:r>
            <a:r>
              <a:rPr lang="en-GB" b="1" dirty="0"/>
              <a:t>:</a:t>
            </a:r>
            <a:r>
              <a:rPr lang="en-GB" dirty="0"/>
              <a:t> Highlight the complete </a:t>
            </a:r>
            <a:r>
              <a:rPr lang="en-GB" b="1" dirty="0"/>
              <a:t>ो </a:t>
            </a:r>
            <a:r>
              <a:rPr lang="en-GB" b="1" dirty="0" err="1"/>
              <a:t>मात्रा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नौ</a:t>
            </a:r>
            <a:r>
              <a:rPr lang="en-GB" b="1" dirty="0"/>
              <a:t>, </a:t>
            </a:r>
            <a:r>
              <a:rPr lang="en-GB" b="1" dirty="0" err="1"/>
              <a:t>पौ</a:t>
            </a:r>
            <a:r>
              <a:rPr lang="en-GB" b="1" dirty="0"/>
              <a:t>, </a:t>
            </a:r>
            <a:r>
              <a:rPr lang="en-GB" b="1" dirty="0" err="1"/>
              <a:t>कौ</a:t>
            </a:r>
            <a:r>
              <a:rPr lang="en-GB" b="1" dirty="0"/>
              <a:t>:</a:t>
            </a:r>
            <a:r>
              <a:rPr lang="en-GB" dirty="0"/>
              <a:t> Highlight the complete </a:t>
            </a:r>
            <a:r>
              <a:rPr lang="en-GB" b="1" dirty="0"/>
              <a:t>ौ </a:t>
            </a:r>
            <a:r>
              <a:rPr lang="en-GB" b="1" dirty="0" err="1"/>
              <a:t>मात्रा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Include the upper strokes and right-side vertical stroke of the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consonant and headline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relevant picture and incomplete word clearly visible so the child can compare.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correct option or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return the card to its normal size and allow another attempt.</a:t>
            </a:r>
          </a:p>
          <a:p>
            <a:r>
              <a:rPr lang="en-GB" b="1" dirty="0"/>
              <a:t>Option VO — Play Only the Wrongly Dropped </a:t>
            </a:r>
            <a:r>
              <a:rPr lang="en-GB" b="1" dirty="0" err="1"/>
              <a:t>अक्षर</a:t>
            </a:r>
            <a:r>
              <a:rPr lang="en-GB" b="1" dirty="0"/>
              <a:t>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मो</a:t>
            </a:r>
            <a:r>
              <a:rPr lang="en-GB" b="1" dirty="0"/>
              <a:t>।” / “</a:t>
            </a:r>
            <a:r>
              <a:rPr lang="en-GB" b="1" dirty="0" err="1"/>
              <a:t>नौ</a:t>
            </a:r>
            <a:r>
              <a:rPr lang="en-GB" b="1" dirty="0"/>
              <a:t>।” / “</a:t>
            </a:r>
            <a:r>
              <a:rPr lang="en-GB" b="1" dirty="0" err="1"/>
              <a:t>ढो</a:t>
            </a:r>
            <a:r>
              <a:rPr lang="en-GB" b="1" dirty="0"/>
              <a:t>।” / “</a:t>
            </a:r>
            <a:r>
              <a:rPr lang="en-GB" b="1" dirty="0" err="1"/>
              <a:t>पौ</a:t>
            </a:r>
            <a:r>
              <a:rPr lang="en-GB" b="1" dirty="0"/>
              <a:t>।” / “</a:t>
            </a:r>
            <a:r>
              <a:rPr lang="en-GB" b="1" dirty="0" err="1"/>
              <a:t>कौ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अक्षर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 the wrong card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correct </a:t>
            </a:r>
            <a:r>
              <a:rPr lang="en-GB" dirty="0" err="1"/>
              <a:t>अक्षर</a:t>
            </a:r>
            <a:r>
              <a:rPr lang="en-GB" dirty="0"/>
              <a:t> and its matching blank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Temporarily lock all other options and destinations.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only the correct placement.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Wait for the child to drag the </a:t>
            </a:r>
            <a:r>
              <a:rPr lang="en-GB" dirty="0" err="1"/>
              <a:t>अक्षर</a:t>
            </a:r>
            <a:r>
              <a:rPr lang="en-GB" dirty="0"/>
              <a:t> into the blank. Do not complete the word automatically.</a:t>
            </a:r>
          </a:p>
          <a:p>
            <a:r>
              <a:rPr lang="en-GB" b="1" dirty="0"/>
              <a:t>VO for </a:t>
            </a:r>
            <a:r>
              <a:rPr lang="en-GB" b="1" dirty="0" err="1"/>
              <a:t>मोर</a:t>
            </a:r>
            <a:r>
              <a:rPr lang="en-GB" b="1" dirty="0"/>
              <a:t>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मो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मोर</a:t>
            </a:r>
            <a:r>
              <a:rPr lang="en-GB" b="1" dirty="0"/>
              <a:t>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मो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VO for </a:t>
            </a:r>
            <a:r>
              <a:rPr lang="en-GB" b="1" dirty="0" err="1"/>
              <a:t>ढोल</a:t>
            </a:r>
            <a:r>
              <a:rPr lang="en-GB" b="1" dirty="0"/>
              <a:t>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ढो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ढोल</a:t>
            </a:r>
            <a:r>
              <a:rPr lang="en-GB" b="1" dirty="0"/>
              <a:t>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ढो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VO for </a:t>
            </a:r>
            <a:r>
              <a:rPr lang="en-GB" b="1" dirty="0" err="1"/>
              <a:t>पौधा</a:t>
            </a:r>
            <a:r>
              <a:rPr lang="en-GB" b="1" dirty="0"/>
              <a:t>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पौ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पौधा</a:t>
            </a:r>
            <a:r>
              <a:rPr lang="en-GB" b="1" dirty="0"/>
              <a:t>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पौ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Practice-Round Hand Nudge: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Confirm with </a:t>
            </a:r>
            <a:r>
              <a:rPr lang="en-GB" b="1" dirty="0"/>
              <a:t>Ankita</a:t>
            </a:r>
            <a:r>
              <a:rPr lang="en-GB" dirty="0"/>
              <a:t> whether Hint 3 should include a hand drag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Pending confirmation, use </a:t>
            </a:r>
            <a:r>
              <a:rPr lang="en-GB" b="1" dirty="0"/>
              <a:t>glow and lock without a hand</a:t>
            </a:r>
            <a:r>
              <a:rPr lang="en-GB" dirty="0"/>
              <a:t>, following the earlier practice QA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approved, animate the hand from the correct </a:t>
            </a:r>
            <a:r>
              <a:rPr lang="en-GB" dirty="0" err="1"/>
              <a:t>अक्षर</a:t>
            </a:r>
            <a:r>
              <a:rPr lang="en-GB" dirty="0"/>
              <a:t> to its matching blank.</a:t>
            </a:r>
          </a:p>
          <a:p>
            <a:r>
              <a:rPr lang="en-GB" b="1" dirty="0"/>
              <a:t>Distractor Handling and Attempt Counts: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 separate wrong-attempt counter for each correct </a:t>
            </a:r>
            <a:r>
              <a:rPr lang="en-GB" dirty="0" err="1"/>
              <a:t>अक्षर</a:t>
            </a:r>
            <a:r>
              <a:rPr lang="en-GB" dirty="0"/>
              <a:t> card: </a:t>
            </a:r>
            <a:r>
              <a:rPr lang="en-GB" b="1" dirty="0" err="1"/>
              <a:t>मो</a:t>
            </a:r>
            <a:r>
              <a:rPr lang="en-GB" b="1" dirty="0"/>
              <a:t>, </a:t>
            </a:r>
            <a:r>
              <a:rPr lang="en-GB" b="1" dirty="0" err="1"/>
              <a:t>ढो</a:t>
            </a:r>
            <a:r>
              <a:rPr lang="en-GB" b="1" dirty="0"/>
              <a:t>, </a:t>
            </a:r>
            <a:r>
              <a:rPr lang="en-GB" b="1" dirty="0" err="1"/>
              <a:t>पौ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Preserve its counter if the child switches cards. Each new card starts at zero.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At Hint 3, guide that </a:t>
            </a:r>
            <a:r>
              <a:rPr lang="en-GB" dirty="0" err="1"/>
              <a:t>अक्षर</a:t>
            </a:r>
            <a:r>
              <a:rPr lang="en-GB" dirty="0"/>
              <a:t> to its matching word.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wrong drop of </a:t>
            </a:r>
            <a:r>
              <a:rPr lang="en-GB" b="1" dirty="0" err="1"/>
              <a:t>नौ</a:t>
            </a:r>
            <a:r>
              <a:rPr lang="en-GB" dirty="0"/>
              <a:t> or </a:t>
            </a:r>
            <a:r>
              <a:rPr lang="en-GB" b="1" dirty="0" err="1"/>
              <a:t>कौ</a:t>
            </a:r>
            <a:r>
              <a:rPr lang="en-GB" dirty="0"/>
              <a:t> also counts as an attempt. Track these errors against the unfinished blank where the distractor was dropped.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Switching between </a:t>
            </a:r>
            <a:r>
              <a:rPr lang="en-GB" b="1" dirty="0" err="1"/>
              <a:t>नौ</a:t>
            </a:r>
            <a:r>
              <a:rPr lang="en-GB" dirty="0"/>
              <a:t> and </a:t>
            </a:r>
            <a:r>
              <a:rPr lang="en-GB" b="1" dirty="0" err="1"/>
              <a:t>कौ</a:t>
            </a:r>
            <a:r>
              <a:rPr lang="en-GB" dirty="0"/>
              <a:t> must not reset that blank’s distractor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third distractor error for a blank, reveal the correct </a:t>
            </a:r>
            <a:r>
              <a:rPr lang="en-GB" dirty="0" err="1"/>
              <a:t>अक्षर</a:t>
            </a:r>
            <a:r>
              <a:rPr lang="en-GB" dirty="0"/>
              <a:t> for that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release outside all blanks simply returns the card and does not count as an answer attempt.</a:t>
            </a:r>
          </a:p>
          <a:p>
            <a:r>
              <a:rPr lang="en-GB" b="1" dirty="0"/>
              <a:t>Correct Placement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correct </a:t>
            </a:r>
            <a:r>
              <a:rPr lang="en-GB" dirty="0" err="1"/>
              <a:t>अक्षर</a:t>
            </a:r>
            <a:r>
              <a:rPr lang="en-GB" dirty="0"/>
              <a:t> into place.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 completed word and highlight its target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any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the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completed word and re-enable the remaining unfinished items.</a:t>
            </a:r>
          </a:p>
          <a:p>
            <a:r>
              <a:rPr lang="en-GB" b="1" dirty="0"/>
              <a:t>Completion: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Finish when </a:t>
            </a:r>
            <a:r>
              <a:rPr lang="en-GB" b="1" dirty="0" err="1"/>
              <a:t>मोर</a:t>
            </a:r>
            <a:r>
              <a:rPr lang="en-GB" b="1" dirty="0"/>
              <a:t>, </a:t>
            </a:r>
            <a:r>
              <a:rPr lang="en-GB" b="1" dirty="0" err="1"/>
              <a:t>ढोल</a:t>
            </a:r>
            <a:r>
              <a:rPr lang="en-GB" b="1" dirty="0"/>
              <a:t> and </a:t>
            </a:r>
            <a:r>
              <a:rPr lang="en-GB" b="1" dirty="0" err="1"/>
              <a:t>पौधा</a:t>
            </a:r>
            <a:r>
              <a:rPr lang="en-GB" dirty="0"/>
              <a:t> are complete.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Leave the unused distractors in the tray and disable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all three coaches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a brief train whistle with a subtle steam animation.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feedback finishes.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extra completion VO is required.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train arrival/whistle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pick-up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drop.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success chime on correct completion.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all SFX below the VO volume.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activity.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all three words are complete and feedback finishes.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Update the third picture, incomplete word and answer mapping to </a:t>
            </a:r>
            <a:r>
              <a:rPr lang="en-GB" b="1" dirty="0" err="1"/>
              <a:t>पौधा</a:t>
            </a:r>
            <a:r>
              <a:rPr lang="en-GB" b="1" dirty="0"/>
              <a:t>, _</a:t>
            </a:r>
            <a:r>
              <a:rPr lang="en-GB" b="1" dirty="0" err="1"/>
              <a:t>धा</a:t>
            </a:r>
            <a:r>
              <a:rPr lang="en-GB" b="1" dirty="0"/>
              <a:t>, </a:t>
            </a:r>
            <a:r>
              <a:rPr lang="en-GB" b="1" dirty="0" err="1"/>
              <a:t>पौ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and drags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completed words locked throughout later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Stop an item’s hint sequence immediately if the child answers correctly earlier.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धा</a:t>
            </a:r>
            <a:r>
              <a:rPr lang="en-GB" dirty="0"/>
              <a:t> together in the third coach. The child adds </a:t>
            </a:r>
            <a:r>
              <a:rPr lang="en-GB" b="1" dirty="0" err="1"/>
              <a:t>पौ</a:t>
            </a:r>
            <a:r>
              <a:rPr lang="en-GB" dirty="0"/>
              <a:t> to complete </a:t>
            </a:r>
            <a:r>
              <a:rPr lang="en-GB" b="1" dirty="0" err="1"/>
              <a:t>पौधा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the target </a:t>
            </a:r>
            <a:r>
              <a:rPr lang="en-GB" b="1" dirty="0"/>
              <a:t>ो / ौ </a:t>
            </a:r>
            <a:r>
              <a:rPr lang="en-GB" b="1" dirty="0" err="1"/>
              <a:t>मात्रा</a:t>
            </a:r>
            <a:r>
              <a:rPr lang="en-GB" dirty="0"/>
              <a:t>, keeping consonants, headline and the existing </a:t>
            </a:r>
            <a:r>
              <a:rPr lang="en-GB" b="1" dirty="0"/>
              <a:t>ा </a:t>
            </a:r>
            <a:r>
              <a:rPr lang="en-GB" b="1" dirty="0" err="1"/>
              <a:t>मात्रा</a:t>
            </a:r>
            <a:r>
              <a:rPr lang="en-GB" dirty="0"/>
              <a:t>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Picture Change:</a:t>
            </a:r>
            <a:endParaRPr lang="en-GB" dirty="0"/>
          </a:p>
          <a:p>
            <a:r>
              <a:rPr lang="en-GB" dirty="0"/>
              <a:t>Use these four picture options in this order: </a:t>
            </a:r>
            <a:r>
              <a:rPr lang="en-GB" b="1" dirty="0" err="1"/>
              <a:t>दौड़</a:t>
            </a:r>
            <a:r>
              <a:rPr lang="en-GB" b="1" dirty="0"/>
              <a:t>, </a:t>
            </a:r>
            <a:r>
              <a:rPr lang="en-GB" b="1" dirty="0" err="1"/>
              <a:t>तोता</a:t>
            </a:r>
            <a:r>
              <a:rPr lang="en-GB" b="1" dirty="0"/>
              <a:t>, </a:t>
            </a:r>
            <a:r>
              <a:rPr lang="en-GB" b="1" dirty="0" err="1"/>
              <a:t>घोड़ा</a:t>
            </a:r>
            <a:r>
              <a:rPr lang="en-GB" b="1" dirty="0"/>
              <a:t>, </a:t>
            </a:r>
            <a:r>
              <a:rPr lang="en-GB" b="1" dirty="0" err="1"/>
              <a:t>हथौड़ा</a:t>
            </a:r>
            <a:r>
              <a:rPr lang="en-GB" dirty="0"/>
              <a:t>.</a:t>
            </a:r>
          </a:p>
          <a:p>
            <a:r>
              <a:rPr lang="en-GB" b="1" dirty="0"/>
              <a:t>Activity Concept: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train with </a:t>
            </a:r>
            <a:r>
              <a:rPr lang="en-GB" b="1" dirty="0"/>
              <a:t>two coaches</a:t>
            </a:r>
            <a:r>
              <a:rPr lang="en-GB" dirty="0"/>
              <a:t>, labelled </a:t>
            </a:r>
            <a:r>
              <a:rPr lang="en-GB" b="1" dirty="0"/>
              <a:t>ओ</a:t>
            </a:r>
            <a:r>
              <a:rPr lang="en-GB" dirty="0"/>
              <a:t> and </a:t>
            </a:r>
            <a:r>
              <a:rPr lang="en-GB" b="1" dirty="0"/>
              <a:t>औ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inside of each coach empty as a drop zone.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</a:t>
            </a:r>
            <a:r>
              <a:rPr lang="en-GB" b="1" dirty="0"/>
              <a:t>picture cards only</a:t>
            </a:r>
            <a:r>
              <a:rPr lang="en-GB" dirty="0"/>
              <a:t> below the train.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listens to each picture’s name and drags it into the correct </a:t>
            </a:r>
            <a:r>
              <a:rPr lang="en-GB" dirty="0" err="1"/>
              <a:t>डिब्बा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initial question free of written picture names.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During </a:t>
            </a:r>
            <a:r>
              <a:rPr lang="en-GB" b="1" dirty="0"/>
              <a:t>Hint 2</a:t>
            </a:r>
            <a:r>
              <a:rPr lang="en-GB" dirty="0"/>
              <a:t>, temporarily show the wrongly dropped picture’s word and highlight its target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का</a:t>
            </a:r>
            <a:r>
              <a:rPr lang="en-GB" b="1" dirty="0"/>
              <a:t> </a:t>
            </a:r>
            <a:r>
              <a:rPr lang="en-GB" b="1" dirty="0" err="1"/>
              <a:t>नाम</a:t>
            </a:r>
            <a:r>
              <a:rPr lang="en-GB" b="1" dirty="0"/>
              <a:t> </a:t>
            </a:r>
            <a:r>
              <a:rPr lang="en-GB" b="1" dirty="0" err="1"/>
              <a:t>सुनिए</a:t>
            </a:r>
            <a:r>
              <a:rPr lang="en-GB" b="1" dirty="0"/>
              <a:t> </a:t>
            </a:r>
            <a:r>
              <a:rPr lang="en-GB" b="1" dirty="0" err="1"/>
              <a:t>और</a:t>
            </a:r>
            <a:r>
              <a:rPr lang="en-GB" b="1" dirty="0"/>
              <a:t> </a:t>
            </a:r>
            <a:r>
              <a:rPr lang="en-GB" b="1" dirty="0" err="1"/>
              <a:t>उसे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train enters smoothly </a:t>
            </a:r>
            <a:r>
              <a:rPr lang="en-GB" b="1" dirty="0"/>
              <a:t>from right to left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stops at the centre.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Coach labels </a:t>
            </a:r>
            <a:r>
              <a:rPr lang="en-GB" b="1" dirty="0"/>
              <a:t>ओ</a:t>
            </a:r>
            <a:r>
              <a:rPr lang="en-GB" dirty="0"/>
              <a:t> and </a:t>
            </a:r>
            <a:r>
              <a:rPr lang="en-GB" b="1" dirty="0"/>
              <a:t>औ</a:t>
            </a:r>
            <a:r>
              <a:rPr lang="en-GB" dirty="0"/>
              <a:t> appear.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Picture cards </a:t>
            </a:r>
            <a:r>
              <a:rPr lang="en-GB" b="1" dirty="0" err="1"/>
              <a:t>दौड़</a:t>
            </a:r>
            <a:r>
              <a:rPr lang="en-GB" b="1" dirty="0"/>
              <a:t>, </a:t>
            </a:r>
            <a:r>
              <a:rPr lang="en-GB" b="1" dirty="0" err="1"/>
              <a:t>तोता</a:t>
            </a:r>
            <a:r>
              <a:rPr lang="en-GB" b="1" dirty="0"/>
              <a:t>, </a:t>
            </a:r>
            <a:r>
              <a:rPr lang="en-GB" b="1" dirty="0" err="1"/>
              <a:t>घोड़ा</a:t>
            </a:r>
            <a:r>
              <a:rPr lang="en-GB" b="1" dirty="0"/>
              <a:t>, </a:t>
            </a:r>
            <a:r>
              <a:rPr lang="en-GB" b="1" dirty="0" err="1"/>
              <a:t>हथौड़ा</a:t>
            </a:r>
            <a:r>
              <a:rPr lang="en-GB" dirty="0"/>
              <a:t> appear below the train.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VO before enabling interaction.</a:t>
            </a:r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First coach label: </a:t>
            </a:r>
            <a:r>
              <a:rPr lang="en-GB" b="1" dirty="0"/>
              <a:t>ओ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Second coach label: </a:t>
            </a:r>
            <a:r>
              <a:rPr lang="en-GB" b="1" dirty="0"/>
              <a:t>औ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add </a:t>
            </a:r>
            <a:r>
              <a:rPr lang="en-GB" dirty="0" err="1"/>
              <a:t>matra</a:t>
            </a:r>
            <a:r>
              <a:rPr lang="en-GB" dirty="0"/>
              <a:t> symbols to the coach labels.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four pictures clear and equally prominent.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picture names or correct-answer cues initially.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train UI/UX style unchanged.</a:t>
            </a:r>
          </a:p>
          <a:p>
            <a:r>
              <a:rPr lang="en-GB" b="1" dirty="0"/>
              <a:t>Image Requirements: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दौड़</a:t>
            </a:r>
            <a:r>
              <a:rPr lang="en-GB" b="1" dirty="0"/>
              <a:t>:</a:t>
            </a:r>
            <a:r>
              <a:rPr lang="en-GB" dirty="0"/>
              <a:t> Two children running, with bent arms, lifted feet and forward movement clearly visible. Use a simple running track and minimal background detail. The action should look like running rather than walking.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तोता</a:t>
            </a:r>
            <a:r>
              <a:rPr lang="en-GB" b="1" dirty="0"/>
              <a:t>:</a:t>
            </a:r>
            <a:r>
              <a:rPr lang="en-GB" dirty="0"/>
              <a:t> A recognisable green parrot with a curved red beak and a long tail.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घोड़ा</a:t>
            </a:r>
            <a:r>
              <a:rPr lang="en-GB" b="1" dirty="0"/>
              <a:t>:</a:t>
            </a:r>
            <a:r>
              <a:rPr lang="en-GB" dirty="0"/>
              <a:t> A recognisable horse with its full body, four legs, mane and tail clearly visible.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हथौड़ा</a:t>
            </a:r>
            <a:r>
              <a:rPr lang="en-GB" b="1" dirty="0"/>
              <a:t>:</a:t>
            </a:r>
            <a:r>
              <a:rPr lang="en-GB" dirty="0"/>
              <a:t> A familiar hammer with a wooden handle and a clearly visible metal head. Show only the hammer without extra tools.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consistent, child-friendly artwork.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For </a:t>
            </a:r>
            <a:r>
              <a:rPr lang="en-GB" b="1" dirty="0" err="1"/>
              <a:t>दौड़</a:t>
            </a:r>
            <a:r>
              <a:rPr lang="en-GB" dirty="0"/>
              <a:t>, use the exact spoken word </a:t>
            </a:r>
            <a:r>
              <a:rPr lang="en-GB" b="1" dirty="0"/>
              <a:t>“</a:t>
            </a:r>
            <a:r>
              <a:rPr lang="en-GB" b="1" dirty="0" err="1"/>
              <a:t>दौड़</a:t>
            </a:r>
            <a:r>
              <a:rPr lang="en-GB" b="1" dirty="0"/>
              <a:t>”</a:t>
            </a:r>
            <a:r>
              <a:rPr lang="en-GB" dirty="0"/>
              <a:t> so the child connects the action picture with the intended word.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का</a:t>
            </a:r>
            <a:r>
              <a:rPr lang="en-GB" b="1" dirty="0"/>
              <a:t> </a:t>
            </a:r>
            <a:r>
              <a:rPr lang="en-GB" b="1" dirty="0" err="1"/>
              <a:t>नाम</a:t>
            </a:r>
            <a:r>
              <a:rPr lang="en-GB" b="1" dirty="0"/>
              <a:t> </a:t>
            </a:r>
            <a:r>
              <a:rPr lang="en-GB" b="1" dirty="0" err="1"/>
              <a:t>सुनिए</a:t>
            </a:r>
            <a:r>
              <a:rPr lang="en-GB" b="1" dirty="0"/>
              <a:t> </a:t>
            </a:r>
            <a:r>
              <a:rPr lang="en-GB" b="1" dirty="0" err="1"/>
              <a:t>और</a:t>
            </a:r>
            <a:r>
              <a:rPr lang="en-GB" b="1" dirty="0"/>
              <a:t> </a:t>
            </a:r>
            <a:r>
              <a:rPr lang="en-GB" b="1" dirty="0" err="1"/>
              <a:t>उसे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Picture-name VO:</a:t>
            </a:r>
            <a:endParaRPr lang="en-GB" dirty="0"/>
          </a:p>
          <a:p>
            <a:r>
              <a:rPr lang="en-GB" dirty="0"/>
              <a:t>When the child taps a picture, play only its name:</a:t>
            </a:r>
          </a:p>
          <a:p>
            <a:r>
              <a:rPr lang="en-GB" b="1" dirty="0"/>
              <a:t>“</a:t>
            </a:r>
            <a:r>
              <a:rPr lang="en-GB" b="1" dirty="0" err="1"/>
              <a:t>दौड़</a:t>
            </a:r>
            <a:r>
              <a:rPr lang="en-GB" b="1" dirty="0"/>
              <a:t>।” / “</a:t>
            </a:r>
            <a:r>
              <a:rPr lang="en-GB" b="1" dirty="0" err="1"/>
              <a:t>तोता</a:t>
            </a:r>
            <a:r>
              <a:rPr lang="en-GB" b="1" dirty="0"/>
              <a:t>।” / “</a:t>
            </a:r>
            <a:r>
              <a:rPr lang="en-GB" b="1" dirty="0" err="1"/>
              <a:t>घोड़ा</a:t>
            </a:r>
            <a:r>
              <a:rPr lang="en-GB" b="1" dirty="0"/>
              <a:t>।” / “</a:t>
            </a:r>
            <a:r>
              <a:rPr lang="en-GB" b="1" dirty="0" err="1"/>
              <a:t>हथौड़ा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name-only tap does not count as an answer attempt.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a drag begins before the name has been heard, play the name first and enable dragging after the VO finishes.</a:t>
            </a:r>
          </a:p>
          <a:p>
            <a:r>
              <a:rPr lang="en-GB" b="1" dirty="0"/>
              <a:t>Drag and Drop: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drags each picture into its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Each coach accepts two pictures.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Slightly enlarge the selected picture while dragging.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same neutral hover highlight for either coach, without indicating correctness.</a:t>
            </a:r>
          </a:p>
          <a:p>
            <a:r>
              <a:rPr lang="en-GB" b="1" dirty="0"/>
              <a:t>Correct Mapping:</a:t>
            </a:r>
            <a:endParaRPr lang="en-GB" dirty="0"/>
          </a:p>
          <a:p>
            <a:r>
              <a:rPr lang="en-GB" dirty="0" err="1"/>
              <a:t>PictureCorrect</a:t>
            </a:r>
            <a:r>
              <a:rPr lang="en-GB" dirty="0"/>
              <a:t> </a:t>
            </a:r>
            <a:r>
              <a:rPr lang="en-GB" dirty="0" err="1"/>
              <a:t>डिब्बादौड़औतोताओघोड़ाओहथौड़ाऔ</a:t>
            </a:r>
            <a:endParaRPr lang="en-GB" dirty="0"/>
          </a:p>
          <a:p>
            <a:r>
              <a:rPr lang="en-GB" b="1" dirty="0"/>
              <a:t>Correct Placement: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picture inside the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placed picture.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placed pictures clearly visible without overlap.</a:t>
            </a:r>
          </a:p>
          <a:p>
            <a:r>
              <a:rPr lang="en-GB" b="1" dirty="0"/>
              <a:t>Correct Response VO — Play Only the Matching Line: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दौड़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औ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तोता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घोड़ा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हथौड़ा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औ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Drop for That Picture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dropped picture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Replay only that picture’s name.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its written name, highlight a coach or add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another attempt.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सुनिए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Play the current picture’s name, then:</a:t>
            </a:r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Drop for That Picture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picture card and return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Replay </a:t>
            </a:r>
            <a:r>
              <a:rPr lang="en-GB" b="1" dirty="0"/>
              <a:t>only the wrongly dropped picture’s name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Temporarily display its word underneath the picture.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its target </a:t>
            </a:r>
            <a:r>
              <a:rPr lang="en-GB" dirty="0" err="1"/>
              <a:t>matra</a:t>
            </a:r>
            <a:r>
              <a:rPr lang="en-GB" dirty="0"/>
              <a:t> in red using the teaching-screen style: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दौड़</a:t>
            </a:r>
            <a:r>
              <a:rPr lang="en-GB" b="1" dirty="0"/>
              <a:t>:</a:t>
            </a:r>
            <a:r>
              <a:rPr lang="en-GB" dirty="0"/>
              <a:t> Highlight the complete </a:t>
            </a:r>
            <a:r>
              <a:rPr lang="en-GB" b="1" dirty="0"/>
              <a:t>ौ</a:t>
            </a:r>
            <a:r>
              <a:rPr lang="en-GB" dirty="0"/>
              <a:t> attached to </a:t>
            </a:r>
            <a:r>
              <a:rPr lang="en-GB" b="1" dirty="0"/>
              <a:t>द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तोता</a:t>
            </a:r>
            <a:r>
              <a:rPr lang="en-GB" b="1" dirty="0"/>
              <a:t>:</a:t>
            </a:r>
            <a:r>
              <a:rPr lang="en-GB" dirty="0"/>
              <a:t> Highlight the complete </a:t>
            </a:r>
            <a:r>
              <a:rPr lang="en-GB" b="1" dirty="0"/>
              <a:t>ो</a:t>
            </a:r>
            <a:r>
              <a:rPr lang="en-GB" dirty="0"/>
              <a:t> attached to the first </a:t>
            </a:r>
            <a:r>
              <a:rPr lang="en-GB" b="1" dirty="0"/>
              <a:t>त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घोड़ा</a:t>
            </a:r>
            <a:r>
              <a:rPr lang="en-GB" b="1" dirty="0"/>
              <a:t>:</a:t>
            </a:r>
            <a:r>
              <a:rPr lang="en-GB" dirty="0"/>
              <a:t> Highlight the complete </a:t>
            </a:r>
            <a:r>
              <a:rPr lang="en-GB" b="1" dirty="0"/>
              <a:t>ो</a:t>
            </a:r>
            <a:r>
              <a:rPr lang="en-GB" dirty="0"/>
              <a:t> attached to </a:t>
            </a:r>
            <a:r>
              <a:rPr lang="en-GB" b="1" dirty="0"/>
              <a:t>घ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हथौड़ा</a:t>
            </a:r>
            <a:r>
              <a:rPr lang="en-GB" b="1" dirty="0"/>
              <a:t>:</a:t>
            </a:r>
            <a:r>
              <a:rPr lang="en-GB" dirty="0"/>
              <a:t> Highlight the complete </a:t>
            </a:r>
            <a:r>
              <a:rPr lang="en-GB" b="1" dirty="0"/>
              <a:t>ौ</a:t>
            </a:r>
            <a:r>
              <a:rPr lang="en-GB" dirty="0"/>
              <a:t> attached to </a:t>
            </a:r>
            <a:r>
              <a:rPr lang="en-GB" b="1" dirty="0"/>
              <a:t>थ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Include the upper strokes and right-side vertical stroke of the target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consonants, headline and </a:t>
            </a:r>
            <a:r>
              <a:rPr lang="en-GB" dirty="0" err="1"/>
              <a:t>nukta</a:t>
            </a:r>
            <a:r>
              <a:rPr lang="en-GB" dirty="0"/>
              <a:t> dots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/>
              <a:t>ा</a:t>
            </a:r>
            <a:r>
              <a:rPr lang="en-GB" dirty="0"/>
              <a:t> in </a:t>
            </a:r>
            <a:r>
              <a:rPr lang="en-GB" b="1" dirty="0" err="1"/>
              <a:t>तोता</a:t>
            </a:r>
            <a:r>
              <a:rPr lang="en-GB" b="1" dirty="0"/>
              <a:t>, </a:t>
            </a:r>
            <a:r>
              <a:rPr lang="en-GB" b="1" dirty="0" err="1"/>
              <a:t>घोड़ा</a:t>
            </a:r>
            <a:r>
              <a:rPr lang="en-GB" b="1" dirty="0"/>
              <a:t> and </a:t>
            </a:r>
            <a:r>
              <a:rPr lang="en-GB" b="1" dirty="0" err="1"/>
              <a:t>हथौड़ा</a:t>
            </a:r>
            <a:r>
              <a:rPr lang="en-GB" dirty="0"/>
              <a:t> in the regular text colour.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this word support visible for the next attempt.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correct coach or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either destination.</a:t>
            </a:r>
          </a:p>
          <a:p>
            <a:r>
              <a:rPr lang="en-GB" b="1" dirty="0"/>
              <a:t>Word VO — Play Only the Current Word: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दौड़</a:t>
            </a:r>
            <a:r>
              <a:rPr lang="en-GB" b="1" dirty="0"/>
              <a:t>।” / “</a:t>
            </a:r>
            <a:r>
              <a:rPr lang="en-GB" b="1" dirty="0" err="1"/>
              <a:t>तोता</a:t>
            </a:r>
            <a:r>
              <a:rPr lang="en-GB" b="1" dirty="0"/>
              <a:t>।” / “</a:t>
            </a:r>
            <a:r>
              <a:rPr lang="en-GB" b="1" dirty="0" err="1"/>
              <a:t>घोड़ा</a:t>
            </a:r>
            <a:r>
              <a:rPr lang="en-GB" b="1" dirty="0"/>
              <a:t>।” / “</a:t>
            </a:r>
            <a:r>
              <a:rPr lang="en-GB" b="1" dirty="0" err="1"/>
              <a:t>हथौड़ा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“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 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Drop for That Picture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 the wrongly dropped picture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picture and its correct coach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wrong coach as a destination for that picture.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Temporarily disable other unfinished pictures.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only the correct placement.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Wait for the child to drag the picture. Do not place it automatically.</a:t>
            </a:r>
          </a:p>
          <a:p>
            <a:r>
              <a:rPr lang="en-GB" b="1" dirty="0"/>
              <a:t>VO — Play Only the Matching Line: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दौड़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औ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औ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तोता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ओ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घोड़ा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ओ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ओ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हथौड़ा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औ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औ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Practice-Round Hand Nudge: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Confirm with </a:t>
            </a:r>
            <a:r>
              <a:rPr lang="en-GB" b="1" dirty="0"/>
              <a:t>Ankita</a:t>
            </a:r>
            <a:r>
              <a:rPr lang="en-GB" dirty="0"/>
              <a:t> whether Hint 3 should include a hand drag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Pending confirmation, use </a:t>
            </a:r>
            <a:r>
              <a:rPr lang="en-GB" b="1" dirty="0"/>
              <a:t>glow and lock without a hand</a:t>
            </a:r>
            <a:r>
              <a:rPr lang="en-GB" dirty="0"/>
              <a:t>, following the earlier practice QA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approved, show the hand moving from the current picture to its correct coach.</a:t>
            </a:r>
          </a:p>
          <a:p>
            <a:r>
              <a:rPr lang="en-GB" b="1" dirty="0"/>
              <a:t>Correct Placement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picture into the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the temporary word support and any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placed picture.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the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Re-enable the remaining unfinished pictures.</a:t>
            </a:r>
          </a:p>
          <a:p>
            <a:r>
              <a:rPr lang="en-GB" b="1" dirty="0"/>
              <a:t>Completion: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When all four pictures are correctly sorted, give both coaches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a brief train whistle with a subtle steam animation.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feedback finishes.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extra completion VO is required.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train arrival/whistle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tap or pick-up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drop.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success chime on correct placement.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SFX below the VO volume.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all four pictures are correctly placed and feedback finishes.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Update the picture assets, associated word audio and answer mappings to </a:t>
            </a:r>
            <a:r>
              <a:rPr lang="en-GB" b="1" dirty="0" err="1"/>
              <a:t>दौड़</a:t>
            </a:r>
            <a:r>
              <a:rPr lang="en-GB" b="1" dirty="0"/>
              <a:t>, </a:t>
            </a:r>
            <a:r>
              <a:rPr lang="en-GB" b="1" dirty="0" err="1"/>
              <a:t>तोता</a:t>
            </a:r>
            <a:r>
              <a:rPr lang="en-GB" b="1" dirty="0"/>
              <a:t>, </a:t>
            </a:r>
            <a:r>
              <a:rPr lang="en-GB" b="1" dirty="0" err="1"/>
              <a:t>घोड़ा</a:t>
            </a:r>
            <a:r>
              <a:rPr lang="en-GB" b="1" dirty="0"/>
              <a:t>, </a:t>
            </a:r>
            <a:r>
              <a:rPr lang="en-GB" b="1" dirty="0" err="1"/>
              <a:t>हथौड़ा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and drags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Maintain a separate wrong-attempt counter for each picture.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Each new picture starts at zero. Switching pictures must not reset an existing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Count a drop into the wrong coach as one wrong attempt. Name-only taps and releases outside both coaches do not count.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correctly placed pictures locked during later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temporary word support whenever its picture is correctly placed.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answers correctly earlier, stop that picture’s hint sequence immediately.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Preserve the </a:t>
            </a:r>
            <a:r>
              <a:rPr lang="en-GB" dirty="0" err="1"/>
              <a:t>nukta</a:t>
            </a:r>
            <a:r>
              <a:rPr lang="en-GB" dirty="0"/>
              <a:t> under </a:t>
            </a:r>
            <a:r>
              <a:rPr lang="en-GB" b="1" dirty="0" err="1"/>
              <a:t>ड़</a:t>
            </a:r>
            <a:r>
              <a:rPr lang="en-GB" dirty="0"/>
              <a:t> in </a:t>
            </a:r>
            <a:r>
              <a:rPr lang="en-GB" b="1" dirty="0" err="1"/>
              <a:t>दौड़</a:t>
            </a:r>
            <a:r>
              <a:rPr lang="en-GB" b="1" dirty="0"/>
              <a:t>, </a:t>
            </a:r>
            <a:r>
              <a:rPr lang="en-GB" b="1" dirty="0" err="1"/>
              <a:t>घोड़ा</a:t>
            </a:r>
            <a:r>
              <a:rPr lang="en-GB" b="1" dirty="0"/>
              <a:t> and </a:t>
            </a:r>
            <a:r>
              <a:rPr lang="en-GB" b="1" dirty="0" err="1"/>
              <a:t>हथौड़ा</a:t>
            </a:r>
            <a:r>
              <a:rPr lang="en-GB" dirty="0"/>
              <a:t>. Do not include it in the </a:t>
            </a:r>
            <a:r>
              <a:rPr lang="en-GB" dirty="0" err="1"/>
              <a:t>matra</a:t>
            </a:r>
            <a:r>
              <a:rPr lang="en-GB" dirty="0"/>
              <a:t> highlight.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Activity Concept: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This is a </a:t>
            </a:r>
            <a:r>
              <a:rPr lang="en-GB" b="1" dirty="0"/>
              <a:t>picture-based sentence completion activity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looks at the scene, listens to the sentence and drags the correct word card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focus is on connecting the picture with the sentence meaning.</a:t>
            </a:r>
          </a:p>
          <a:p>
            <a:r>
              <a:rPr lang="en-GB" b="1" dirty="0"/>
              <a:t>Sentence and Option Changes: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sentence: </a:t>
            </a:r>
            <a:r>
              <a:rPr lang="en-GB" b="1" dirty="0"/>
              <a:t>“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___ </a:t>
            </a:r>
            <a:r>
              <a:rPr lang="en-GB" b="1" dirty="0" err="1"/>
              <a:t>बैठा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Replace </a:t>
            </a:r>
            <a:r>
              <a:rPr lang="en-GB" b="1" dirty="0" err="1"/>
              <a:t>तोता</a:t>
            </a:r>
            <a:r>
              <a:rPr lang="en-GB" dirty="0"/>
              <a:t> with </a:t>
            </a:r>
            <a:r>
              <a:rPr lang="en-GB" b="1" dirty="0" err="1"/>
              <a:t>कौआ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Replace </a:t>
            </a:r>
            <a:r>
              <a:rPr lang="en-GB" b="1" dirty="0" err="1"/>
              <a:t>नौका</a:t>
            </a:r>
            <a:r>
              <a:rPr lang="en-GB" dirty="0"/>
              <a:t> with </a:t>
            </a:r>
            <a:r>
              <a:rPr lang="en-GB" b="1" dirty="0" err="1"/>
              <a:t>मोर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घोड़ा</a:t>
            </a:r>
            <a:r>
              <a:rPr lang="en-GB" dirty="0"/>
              <a:t> as the other option.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Updated options: </a:t>
            </a:r>
            <a:r>
              <a:rPr lang="en-GB" b="1" dirty="0" err="1"/>
              <a:t>कौआ</a:t>
            </a:r>
            <a:r>
              <a:rPr lang="en-GB" b="1" dirty="0"/>
              <a:t>, </a:t>
            </a:r>
            <a:r>
              <a:rPr lang="en-GB" b="1" dirty="0" err="1"/>
              <a:t>घोड़ा</a:t>
            </a:r>
            <a:r>
              <a:rPr lang="en-GB" b="1" dirty="0"/>
              <a:t>, </a:t>
            </a:r>
            <a:r>
              <a:rPr lang="en-GB" b="1" dirty="0" err="1"/>
              <a:t>मोर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Correct completed sentence: </a:t>
            </a:r>
            <a:r>
              <a:rPr lang="en-GB" b="1" dirty="0"/>
              <a:t>“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कौआ</a:t>
            </a:r>
            <a:r>
              <a:rPr lang="en-GB" b="1" dirty="0"/>
              <a:t> </a:t>
            </a:r>
            <a:r>
              <a:rPr lang="en-GB" b="1" dirty="0" err="1"/>
              <a:t>बैठा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main scene on the left and the sentence on the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</a:t>
            </a:r>
            <a:r>
              <a:rPr lang="en-GB" b="1" dirty="0"/>
              <a:t>“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___ </a:t>
            </a:r>
            <a:r>
              <a:rPr lang="en-GB" b="1" dirty="0" err="1"/>
              <a:t>बैठा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r>
              <a:rPr lang="en-GB" dirty="0"/>
              <a:t> with an empty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three picture-and-word options below the sentence: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कौआ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घोड़ा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मोर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Update the main scene to show </a:t>
            </a:r>
            <a:r>
              <a:rPr lang="en-GB" b="1" dirty="0"/>
              <a:t>one crow sitting clearly on a tree branch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the existing parrot from the scene.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the child and unnecessary background details so the bird remains the main focus.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crow or the correct option initially.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r>
              <a:rPr lang="en-GB" b="1" dirty="0"/>
              <a:t>Image Requirements: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Main scene:</a:t>
            </a:r>
            <a:r>
              <a:rPr lang="en-GB" dirty="0"/>
              <a:t> A tree with one recognisable crow perched on a visible branch. Make the crow large enough to identify, with its dark body, beak, wings and feet clearly visible.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कौआ</a:t>
            </a:r>
            <a:r>
              <a:rPr lang="en-GB" b="1" dirty="0"/>
              <a:t> option:</a:t>
            </a:r>
            <a:r>
              <a:rPr lang="en-GB" dirty="0"/>
              <a:t> A clear crow matching the appearance of the crow in the main scene.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घोड़ा</a:t>
            </a:r>
            <a:r>
              <a:rPr lang="en-GB" b="1" dirty="0"/>
              <a:t> option:</a:t>
            </a:r>
            <a:r>
              <a:rPr lang="en-GB" dirty="0"/>
              <a:t> A recognisable horse with its full body, legs, mane and tail visible.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मोर</a:t>
            </a:r>
            <a:r>
              <a:rPr lang="en-GB" b="1" dirty="0"/>
              <a:t> option:</a:t>
            </a:r>
            <a:r>
              <a:rPr lang="en-GB" dirty="0"/>
              <a:t> A recognisable peacock with a blue neck, head crest and colourful tail feathers.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crow and peacock visually distinct.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consistent, child-friendly artwork with minimal background detail.</a:t>
            </a:r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main picture appears first.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sentence appears with an empty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three option cards fade in one by 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and sentence VO before enabling interaction.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Sentence VO:</a:t>
            </a:r>
            <a:endParaRPr lang="en-GB" dirty="0"/>
          </a:p>
          <a:p>
            <a:r>
              <a:rPr lang="en-GB" dirty="0"/>
              <a:t>Read </a:t>
            </a:r>
            <a:r>
              <a:rPr lang="en-GB" b="1" dirty="0"/>
              <a:t>“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…”</a:t>
            </a:r>
            <a:r>
              <a:rPr lang="en-GB" dirty="0"/>
              <a:t>, pause at the blank, then say </a:t>
            </a:r>
            <a:r>
              <a:rPr lang="en-GB" b="1" dirty="0"/>
              <a:t>“</a:t>
            </a:r>
            <a:r>
              <a:rPr lang="en-GB" b="1" dirty="0" err="1"/>
              <a:t>बैठा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Do not say the missing word.</a:t>
            </a:r>
          </a:p>
          <a:p>
            <a:r>
              <a:rPr lang="en-GB" b="1" dirty="0"/>
              <a:t>Option VO:</a:t>
            </a:r>
            <a:endParaRPr lang="en-GB" dirty="0"/>
          </a:p>
          <a:p>
            <a:r>
              <a:rPr lang="en-GB" dirty="0"/>
              <a:t>When an option is tapped, play only its name:</a:t>
            </a:r>
          </a:p>
          <a:p>
            <a:r>
              <a:rPr lang="en-GB" b="1" dirty="0"/>
              <a:t>“</a:t>
            </a:r>
            <a:r>
              <a:rPr lang="en-GB" b="1" dirty="0" err="1"/>
              <a:t>कौआ</a:t>
            </a:r>
            <a:r>
              <a:rPr lang="en-GB" b="1" dirty="0"/>
              <a:t>।” / “</a:t>
            </a:r>
            <a:r>
              <a:rPr lang="en-GB" b="1" dirty="0" err="1"/>
              <a:t>घोड़ा</a:t>
            </a:r>
            <a:r>
              <a:rPr lang="en-GB" b="1" dirty="0"/>
              <a:t>।” / “</a:t>
            </a:r>
            <a:r>
              <a:rPr lang="en-GB" b="1" dirty="0" err="1"/>
              <a:t>मोर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tap plays the word’s name.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drag into the blank submits the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dragging while any VO plays.</a:t>
            </a:r>
          </a:p>
          <a:p>
            <a:r>
              <a:rPr lang="en-GB" b="1" dirty="0"/>
              <a:t>Correct Answer: </a:t>
            </a:r>
            <a:r>
              <a:rPr lang="en-GB" b="1" dirty="0" err="1"/>
              <a:t>कौआ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</a:t>
            </a:r>
            <a:r>
              <a:rPr lang="en-GB" b="1" dirty="0" err="1"/>
              <a:t>कौआ</a:t>
            </a:r>
            <a:r>
              <a:rPr lang="en-GB" dirty="0"/>
              <a:t> card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Display the completed sentence:</a:t>
            </a:r>
          </a:p>
          <a:p>
            <a:r>
              <a:rPr lang="en-GB" b="1" dirty="0"/>
              <a:t>“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कौआ</a:t>
            </a:r>
            <a:r>
              <a:rPr lang="en-GB" b="1" dirty="0"/>
              <a:t> </a:t>
            </a:r>
            <a:r>
              <a:rPr lang="en-GB" b="1" dirty="0" err="1"/>
              <a:t>बैठा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correct answer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sparkle/confetti effect.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completed sentence.</a:t>
            </a:r>
          </a:p>
          <a:p>
            <a:r>
              <a:rPr lang="en-GB" b="1" dirty="0"/>
              <a:t>Correct Response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कौआ</a:t>
            </a:r>
            <a:r>
              <a:rPr lang="en-GB" b="1" dirty="0"/>
              <a:t> </a:t>
            </a:r>
            <a:r>
              <a:rPr lang="en-GB" b="1" dirty="0" err="1"/>
              <a:t>बैठा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drops </a:t>
            </a:r>
            <a:r>
              <a:rPr lang="en-GB" b="1" dirty="0" err="1"/>
              <a:t>घोड़ा</a:t>
            </a:r>
            <a:r>
              <a:rPr lang="en-GB" dirty="0"/>
              <a:t> or </a:t>
            </a:r>
            <a:r>
              <a:rPr lang="en-GB" b="1" dirty="0" err="1"/>
              <a:t>मोर</a:t>
            </a:r>
            <a:r>
              <a:rPr lang="en-GB" dirty="0"/>
              <a:t> into the blank, softly shake the wrong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crow, any option or a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another attempt.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 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 card and return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the </a:t>
            </a:r>
            <a:r>
              <a:rPr lang="en-GB" b="1" dirty="0"/>
              <a:t>full sentence with each option</a:t>
            </a:r>
            <a:r>
              <a:rPr lang="en-GB" dirty="0"/>
              <a:t>, one at a time, from left to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Briefly preview each word in the blank while its sentence is spoken.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same neutral preview style for all three words. Do not show success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the </a:t>
            </a:r>
            <a:r>
              <a:rPr lang="en-GB" b="1" dirty="0"/>
              <a:t>crow sitting on the branch in the main scene</a:t>
            </a:r>
            <a:r>
              <a:rPr lang="en-GB" dirty="0"/>
              <a:t>, using a soft outline or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its body and beak clearly visible so the child can compare it with the option pictures.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all three readings, restore the empty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glow the correct option or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keep all three options available.</a:t>
            </a:r>
          </a:p>
          <a:p>
            <a:r>
              <a:rPr lang="en-GB" b="1" dirty="0"/>
              <a:t>VO — Separate Clips with a Short Pause Between Them: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कौआ</a:t>
            </a:r>
            <a:r>
              <a:rPr lang="en-GB" b="1" dirty="0"/>
              <a:t> </a:t>
            </a:r>
            <a:r>
              <a:rPr lang="en-GB" b="1" dirty="0" err="1"/>
              <a:t>बैठा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घोड़ा</a:t>
            </a:r>
            <a:r>
              <a:rPr lang="en-GB" b="1" dirty="0"/>
              <a:t> </a:t>
            </a:r>
            <a:r>
              <a:rPr lang="en-GB" b="1" dirty="0" err="1"/>
              <a:t>बैठा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मोर</a:t>
            </a:r>
            <a:r>
              <a:rPr lang="en-GB" b="1" dirty="0"/>
              <a:t> </a:t>
            </a:r>
            <a:r>
              <a:rPr lang="en-GB" b="1" dirty="0" err="1"/>
              <a:t>बैठा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 card and return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</a:t>
            </a:r>
            <a:r>
              <a:rPr lang="en-GB" b="1" dirty="0" err="1"/>
              <a:t>कौआ</a:t>
            </a:r>
            <a:r>
              <a:rPr lang="en-GB" dirty="0"/>
              <a:t> option and the sentence blank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</a:t>
            </a:r>
            <a:r>
              <a:rPr lang="en-GB" b="1" dirty="0" err="1"/>
              <a:t>घोड़ा</a:t>
            </a:r>
            <a:r>
              <a:rPr lang="en-GB" dirty="0"/>
              <a:t> and </a:t>
            </a:r>
            <a:r>
              <a:rPr lang="en-GB" b="1" dirty="0" err="1"/>
              <a:t>मोर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only </a:t>
            </a:r>
            <a:r>
              <a:rPr lang="en-GB" b="1" dirty="0" err="1"/>
              <a:t>कौआ</a:t>
            </a:r>
            <a:r>
              <a:rPr lang="en-GB" dirty="0"/>
              <a:t> to be dragged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Wait for the child to complete the action. Do not fill the blank automatically.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कौआ</a:t>
            </a:r>
            <a:r>
              <a:rPr lang="en-GB" b="1" dirty="0"/>
              <a:t> </a:t>
            </a:r>
            <a:r>
              <a:rPr lang="en-GB" b="1" dirty="0" err="1"/>
              <a:t>बैठा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कौआ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Practice-Round Hand Nudge: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Confirm with </a:t>
            </a:r>
            <a:r>
              <a:rPr lang="en-GB" b="1" dirty="0"/>
              <a:t>Ankita</a:t>
            </a:r>
            <a:r>
              <a:rPr lang="en-GB" dirty="0"/>
              <a:t> whether Hint 3 should include a hand drag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Pending confirmation, use </a:t>
            </a:r>
            <a:r>
              <a:rPr lang="en-GB" b="1" dirty="0"/>
              <a:t>glow and lock without a hand</a:t>
            </a:r>
            <a:r>
              <a:rPr lang="en-GB" dirty="0"/>
              <a:t>, following the earlier practice QA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approved, show the hand moving from </a:t>
            </a:r>
            <a:r>
              <a:rPr lang="en-GB" b="1" dirty="0" err="1"/>
              <a:t>कौआ</a:t>
            </a:r>
            <a:r>
              <a:rPr lang="en-GB" dirty="0"/>
              <a:t> to the sentence blank.</a:t>
            </a:r>
          </a:p>
          <a:p>
            <a:r>
              <a:rPr lang="en-GB" b="1" dirty="0"/>
              <a:t>Correct Response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</a:t>
            </a:r>
            <a:r>
              <a:rPr lang="en-GB" b="1" dirty="0" err="1"/>
              <a:t>कौआ</a:t>
            </a:r>
            <a:r>
              <a:rPr lang="en-GB" dirty="0"/>
              <a:t>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 completed sentence.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any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the feedback finishes.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pop when the picture, sentence or options appear.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tap/pick-up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drop.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success chime on the correct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SFX below the VO volume.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</a:t>
            </a:r>
            <a:r>
              <a:rPr lang="en-GB" b="1" dirty="0" err="1"/>
              <a:t>कौआ</a:t>
            </a:r>
            <a:r>
              <a:rPr lang="en-GB" dirty="0"/>
              <a:t> is correctly placed and feedback finishes.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Update the main scene, option images, written words and associated VO to match </a:t>
            </a:r>
            <a:r>
              <a:rPr lang="en-GB" b="1" dirty="0" err="1"/>
              <a:t>कौआ</a:t>
            </a:r>
            <a:r>
              <a:rPr lang="en-GB" b="1" dirty="0"/>
              <a:t>, </a:t>
            </a:r>
            <a:r>
              <a:rPr lang="en-GB" b="1" dirty="0" err="1"/>
              <a:t>घोड़ा</a:t>
            </a:r>
            <a:r>
              <a:rPr lang="en-GB" b="1" dirty="0"/>
              <a:t>, </a:t>
            </a:r>
            <a:r>
              <a:rPr lang="en-GB" b="1" dirty="0" err="1"/>
              <a:t>मोर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spelling </a:t>
            </a:r>
            <a:r>
              <a:rPr lang="en-GB" b="1" dirty="0" err="1"/>
              <a:t>कौआ</a:t>
            </a:r>
            <a:r>
              <a:rPr lang="en-GB" dirty="0"/>
              <a:t> consistently.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and drags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</a:t>
            </a:r>
            <a:r>
              <a:rPr lang="en-GB" b="1" dirty="0"/>
              <a:t>one wrong-attempt counter for this sentence blank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Switching between </a:t>
            </a:r>
            <a:r>
              <a:rPr lang="en-GB" b="1" dirty="0" err="1"/>
              <a:t>घोड़ा</a:t>
            </a:r>
            <a:r>
              <a:rPr lang="en-GB" dirty="0"/>
              <a:t> and </a:t>
            </a:r>
            <a:r>
              <a:rPr lang="en-GB" b="1" dirty="0" err="1"/>
              <a:t>मोर</a:t>
            </a:r>
            <a:r>
              <a:rPr lang="en-GB" dirty="0"/>
              <a:t> must not reset the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name-only tap or release outside the blank does not count as a wrong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Trigger Hint 1 after the first wrong drop, Hint 2 after the second, and Hint 3 after the third.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answers correctly earlier, accept the answer and stop the hint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Hint 2 previews are temporary comparisons, not accepted answers.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the relevant </a:t>
            </a:r>
            <a:r>
              <a:rPr lang="en-GB" b="1" dirty="0"/>
              <a:t>scene detail</a:t>
            </a:r>
            <a:r>
              <a:rPr lang="en-GB" dirty="0"/>
              <a:t> in Hint 2 because the task tests picture understanding and sentence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Activity Concept: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This is a </a:t>
            </a:r>
            <a:r>
              <a:rPr lang="en-GB" b="1" dirty="0"/>
              <a:t>picture-based sentence completion activity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looks at the scene, listens to the sentence and drags the correct word card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focus is on using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dirty="0"/>
              <a:t> in a meaningful sentence.</a:t>
            </a:r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child-with-toy scene on the left and the sentence on the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Sentence: </a:t>
            </a:r>
            <a:r>
              <a:rPr lang="en-GB" b="1" dirty="0"/>
              <a:t>“</a:t>
            </a:r>
            <a:r>
              <a:rPr lang="en-GB" b="1" dirty="0" err="1"/>
              <a:t>बच्चे</a:t>
            </a:r>
            <a:r>
              <a:rPr lang="en-GB" b="1" dirty="0"/>
              <a:t>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पास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___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three picture-and-word options below the sentence: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खिलौना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मोर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ढोल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Make the toy in front of the child clearly visible.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extra toys from the background so the scene focuses on one toy.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toy or the correct option initially.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r>
              <a:rPr lang="en-GB" b="1" dirty="0"/>
              <a:t>Image Requirements: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Main scene:</a:t>
            </a:r>
            <a:r>
              <a:rPr lang="en-GB" dirty="0"/>
              <a:t> A child sitting with a pull-along toy duck. Show its wheels and string clearly so it is recognisable as a toy.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खिलौना</a:t>
            </a:r>
            <a:r>
              <a:rPr lang="en-GB" b="1" dirty="0"/>
              <a:t> option:</a:t>
            </a:r>
            <a:r>
              <a:rPr lang="en-GB" dirty="0"/>
              <a:t> The same type of toy duck, with visible wheels and string, matching the main scene.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मोर</a:t>
            </a:r>
            <a:r>
              <a:rPr lang="en-GB" b="1" dirty="0"/>
              <a:t> option:</a:t>
            </a:r>
            <a:r>
              <a:rPr lang="en-GB" dirty="0"/>
              <a:t> A recognisable peacock with a blue neck, head crest and colourful tail feathers.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ढोल</a:t>
            </a:r>
            <a:r>
              <a:rPr lang="en-GB" b="1" dirty="0"/>
              <a:t> option:</a:t>
            </a:r>
            <a:r>
              <a:rPr lang="en-GB" dirty="0"/>
              <a:t> A recognisable drum with a cylindrical body, two drumheads and visible side lacing.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consistent, child-friendly artwork with minimal background detail.</a:t>
            </a:r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main picture appears first.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sentence appears with an empty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three option cards fade in one by 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and sentence VO before enabling interaction.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Sentence VO:</a:t>
            </a:r>
            <a:endParaRPr lang="en-GB" dirty="0"/>
          </a:p>
          <a:p>
            <a:r>
              <a:rPr lang="en-GB" dirty="0"/>
              <a:t>Read </a:t>
            </a:r>
            <a:r>
              <a:rPr lang="en-GB" b="1" dirty="0"/>
              <a:t>“</a:t>
            </a:r>
            <a:r>
              <a:rPr lang="en-GB" b="1" dirty="0" err="1"/>
              <a:t>बच्चे</a:t>
            </a:r>
            <a:r>
              <a:rPr lang="en-GB" b="1" dirty="0"/>
              <a:t>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पास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…”</a:t>
            </a:r>
            <a:r>
              <a:rPr lang="en-GB" dirty="0"/>
              <a:t>, pause at the blank, then say </a:t>
            </a:r>
            <a:r>
              <a:rPr lang="en-GB" b="1" dirty="0"/>
              <a:t>“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Do not say the missing word.</a:t>
            </a:r>
          </a:p>
          <a:p>
            <a:r>
              <a:rPr lang="en-GB" b="1" dirty="0"/>
              <a:t>Option VO:</a:t>
            </a:r>
            <a:endParaRPr lang="en-GB" dirty="0"/>
          </a:p>
          <a:p>
            <a:r>
              <a:rPr lang="en-GB" dirty="0"/>
              <a:t>When an option is tapped, play only its name:</a:t>
            </a:r>
          </a:p>
          <a:p>
            <a:r>
              <a:rPr lang="en-GB" b="1" dirty="0"/>
              <a:t>“</a:t>
            </a:r>
            <a:r>
              <a:rPr lang="en-GB" b="1" dirty="0" err="1"/>
              <a:t>खिलौना</a:t>
            </a:r>
            <a:r>
              <a:rPr lang="en-GB" b="1" dirty="0"/>
              <a:t>।” / “</a:t>
            </a:r>
            <a:r>
              <a:rPr lang="en-GB" b="1" dirty="0" err="1"/>
              <a:t>मोर</a:t>
            </a:r>
            <a:r>
              <a:rPr lang="en-GB" b="1" dirty="0"/>
              <a:t>।” / “</a:t>
            </a:r>
            <a:r>
              <a:rPr lang="en-GB" b="1" dirty="0" err="1"/>
              <a:t>ढोल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tap plays the word’s name.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drag into the blank submits the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dragging while any VO plays.</a:t>
            </a:r>
          </a:p>
          <a:p>
            <a:r>
              <a:rPr lang="en-GB" b="1" dirty="0"/>
              <a:t>Correct Answer: </a:t>
            </a:r>
            <a:r>
              <a:rPr lang="en-GB" b="1" dirty="0" err="1"/>
              <a:t>खिलौना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</a:t>
            </a:r>
            <a:r>
              <a:rPr lang="en-GB" b="1" dirty="0" err="1"/>
              <a:t>खिलौना</a:t>
            </a:r>
            <a:r>
              <a:rPr lang="en-GB" dirty="0"/>
              <a:t> card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Display the completed sentence:</a:t>
            </a:r>
          </a:p>
          <a:p>
            <a:r>
              <a:rPr lang="en-GB" b="1" dirty="0"/>
              <a:t>“</a:t>
            </a:r>
            <a:r>
              <a:rPr lang="en-GB" b="1" dirty="0" err="1"/>
              <a:t>बच्चे</a:t>
            </a:r>
            <a:r>
              <a:rPr lang="en-GB" b="1" dirty="0"/>
              <a:t>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पास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खिलौना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correct answer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sparkle/confetti effect.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completed sentence.</a:t>
            </a:r>
          </a:p>
          <a:p>
            <a:r>
              <a:rPr lang="en-GB" b="1" dirty="0"/>
              <a:t>Correct Response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बच्चे</a:t>
            </a:r>
            <a:r>
              <a:rPr lang="en-GB" b="1" dirty="0"/>
              <a:t>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पास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खिलौना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drops </a:t>
            </a:r>
            <a:r>
              <a:rPr lang="en-GB" b="1" dirty="0" err="1"/>
              <a:t>मोर</a:t>
            </a:r>
            <a:r>
              <a:rPr lang="en-GB" dirty="0"/>
              <a:t> or </a:t>
            </a:r>
            <a:r>
              <a:rPr lang="en-GB" b="1" dirty="0" err="1"/>
              <a:t>ढोल</a:t>
            </a:r>
            <a:r>
              <a:rPr lang="en-GB" dirty="0"/>
              <a:t> into the blank, softly shake the wrong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toy, any option or a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another attempt.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 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 card and return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the </a:t>
            </a:r>
            <a:r>
              <a:rPr lang="en-GB" b="1" dirty="0"/>
              <a:t>full sentence with each option</a:t>
            </a:r>
            <a:r>
              <a:rPr lang="en-GB" dirty="0"/>
              <a:t>, one at a time, from left to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Briefly preview each word in the blank while its sentence is spoken.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same neutral preview style for all three words. Do not show success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the </a:t>
            </a:r>
            <a:r>
              <a:rPr lang="en-GB" b="1" dirty="0"/>
              <a:t>toy duck in front of the child</a:t>
            </a:r>
            <a:r>
              <a:rPr lang="en-GB" dirty="0"/>
              <a:t>, including its wheels and string, using a soft outline or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all three readings, restore the empty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glow the correct option or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keep all three options available.</a:t>
            </a:r>
          </a:p>
          <a:p>
            <a:r>
              <a:rPr lang="en-GB" b="1" dirty="0"/>
              <a:t>VO — Separate Clips with a Short Pause Between Them: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बच्चे</a:t>
            </a:r>
            <a:r>
              <a:rPr lang="en-GB" b="1" dirty="0"/>
              <a:t>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पास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खिलौना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बच्चे</a:t>
            </a:r>
            <a:r>
              <a:rPr lang="en-GB" b="1" dirty="0"/>
              <a:t>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पास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मोर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बच्चे</a:t>
            </a:r>
            <a:r>
              <a:rPr lang="en-GB" b="1" dirty="0"/>
              <a:t>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पास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ढोल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 card and return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</a:t>
            </a:r>
            <a:r>
              <a:rPr lang="en-GB" b="1" dirty="0" err="1"/>
              <a:t>खिलौना</a:t>
            </a:r>
            <a:r>
              <a:rPr lang="en-GB" dirty="0"/>
              <a:t> option and the sentence blank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</a:t>
            </a:r>
            <a:r>
              <a:rPr lang="en-GB" b="1" dirty="0" err="1"/>
              <a:t>मोर</a:t>
            </a:r>
            <a:r>
              <a:rPr lang="en-GB" dirty="0"/>
              <a:t> and </a:t>
            </a:r>
            <a:r>
              <a:rPr lang="en-GB" b="1" dirty="0" err="1"/>
              <a:t>ढोल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only </a:t>
            </a:r>
            <a:r>
              <a:rPr lang="en-GB" b="1" dirty="0" err="1"/>
              <a:t>खिलौना</a:t>
            </a:r>
            <a:r>
              <a:rPr lang="en-GB" dirty="0"/>
              <a:t> to be dragged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Wait for the child to complete the action. Do not fill the blank automatically.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बच्चे</a:t>
            </a:r>
            <a:r>
              <a:rPr lang="en-GB" b="1" dirty="0"/>
              <a:t>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पास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खिलौना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खिलौना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Practice-Round Hand Nudge: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Confirm with </a:t>
            </a:r>
            <a:r>
              <a:rPr lang="en-GB" b="1" dirty="0"/>
              <a:t>Ankita</a:t>
            </a:r>
            <a:r>
              <a:rPr lang="en-GB" dirty="0"/>
              <a:t> whether Hint 3 should include a hand drag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Pending confirmation, use </a:t>
            </a:r>
            <a:r>
              <a:rPr lang="en-GB" b="1" dirty="0"/>
              <a:t>glow and lock without a hand</a:t>
            </a:r>
            <a:r>
              <a:rPr lang="en-GB" dirty="0"/>
              <a:t>, following the earlier practice QA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approved, show the hand moving from </a:t>
            </a:r>
            <a:r>
              <a:rPr lang="en-GB" b="1" dirty="0" err="1"/>
              <a:t>खिलौना</a:t>
            </a:r>
            <a:r>
              <a:rPr lang="en-GB" dirty="0"/>
              <a:t> to the sentence blank.</a:t>
            </a:r>
          </a:p>
          <a:p>
            <a:r>
              <a:rPr lang="en-GB" b="1" dirty="0"/>
              <a:t>Correct Response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</a:t>
            </a:r>
            <a:r>
              <a:rPr lang="en-GB" b="1" dirty="0" err="1"/>
              <a:t>खिलौना</a:t>
            </a:r>
            <a:r>
              <a:rPr lang="en-GB" dirty="0"/>
              <a:t>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 completed sentence.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any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the feedback finishes.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pop when the picture, sentence or options appear.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tap/pick-up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drop.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success chime on the correct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SFX below the VO volume.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</a:t>
            </a:r>
            <a:r>
              <a:rPr lang="en-GB" b="1" dirty="0" err="1"/>
              <a:t>खिलौना</a:t>
            </a:r>
            <a:r>
              <a:rPr lang="en-GB" dirty="0"/>
              <a:t> is correctly placed and feedback finishes.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option text and associated word audio </a:t>
            </a:r>
            <a:r>
              <a:rPr lang="en-GB" b="1" dirty="0" err="1"/>
              <a:t>खिलौना</a:t>
            </a:r>
            <a:r>
              <a:rPr lang="en-GB" b="1" dirty="0"/>
              <a:t>, </a:t>
            </a:r>
            <a:r>
              <a:rPr lang="en-GB" b="1" dirty="0" err="1"/>
              <a:t>मोर</a:t>
            </a:r>
            <a:r>
              <a:rPr lang="en-GB" b="1" dirty="0"/>
              <a:t>, </a:t>
            </a:r>
            <a:r>
              <a:rPr lang="en-GB" b="1" dirty="0" err="1"/>
              <a:t>ढोल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Size the blank and option card so </a:t>
            </a:r>
            <a:r>
              <a:rPr lang="en-GB" b="1" dirty="0" err="1"/>
              <a:t>खिलौना</a:t>
            </a:r>
            <a:r>
              <a:rPr lang="en-GB" dirty="0"/>
              <a:t> fits clearly without reducing readability.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and drags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</a:t>
            </a:r>
            <a:r>
              <a:rPr lang="en-GB" b="1" dirty="0"/>
              <a:t>one wrong-attempt counter for this sentence blank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Switching between </a:t>
            </a:r>
            <a:r>
              <a:rPr lang="en-GB" b="1" dirty="0" err="1"/>
              <a:t>मोर</a:t>
            </a:r>
            <a:r>
              <a:rPr lang="en-GB" dirty="0"/>
              <a:t> and </a:t>
            </a:r>
            <a:r>
              <a:rPr lang="en-GB" b="1" dirty="0" err="1"/>
              <a:t>ढोल</a:t>
            </a:r>
            <a:r>
              <a:rPr lang="en-GB" dirty="0"/>
              <a:t> must not reset the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name-only tap or release outside the blank does not count as a wrong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Trigger Hint 1 after the first wrong drop, Hint 2 after the second, and Hint 3 after the third.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answers correctly earlier, accept the answer and stop the hint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Hint 2 previews are temporary comparisons, not accepted answers.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the relevant </a:t>
            </a:r>
            <a:r>
              <a:rPr lang="en-GB" b="1" dirty="0"/>
              <a:t>scene detail</a:t>
            </a:r>
            <a:r>
              <a:rPr lang="en-GB" dirty="0"/>
              <a:t> in Hint 2 because the task tests picture understanding and sentence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Activity Concept: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This is a </a:t>
            </a:r>
            <a:r>
              <a:rPr lang="en-GB" b="1" dirty="0"/>
              <a:t>picture-based sentence completion activity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looks at the scene, listens to the sentence and drags the correct word card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focus is on using </a:t>
            </a:r>
            <a:r>
              <a:rPr lang="en-GB" b="1" dirty="0"/>
              <a:t>औ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dirty="0"/>
              <a:t> in a meaningful sentence.</a:t>
            </a:r>
          </a:p>
          <a:p>
            <a:r>
              <a:rPr lang="en-GB" b="1" dirty="0"/>
              <a:t>Sentence and Option Changes: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Replace the river-and-boat scene with </a:t>
            </a:r>
            <a:r>
              <a:rPr lang="en-GB" b="1" dirty="0"/>
              <a:t>a man holding a hammer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sentence: </a:t>
            </a:r>
            <a:r>
              <a:rPr lang="en-GB" b="1" dirty="0"/>
              <a:t>“</a:t>
            </a:r>
            <a:r>
              <a:rPr lang="en-GB" b="1" dirty="0" err="1"/>
              <a:t>आदमी</a:t>
            </a:r>
            <a:r>
              <a:rPr lang="en-GB" b="1" dirty="0"/>
              <a:t>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हाथ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___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these options in order: </a:t>
            </a:r>
            <a:r>
              <a:rPr lang="en-GB" b="1" dirty="0" err="1"/>
              <a:t>ढोल</a:t>
            </a:r>
            <a:r>
              <a:rPr lang="en-GB" b="1" dirty="0"/>
              <a:t>, </a:t>
            </a:r>
            <a:r>
              <a:rPr lang="en-GB" b="1" dirty="0" err="1"/>
              <a:t>हथौड़ा</a:t>
            </a:r>
            <a:r>
              <a:rPr lang="en-GB" b="1" dirty="0"/>
              <a:t>, </a:t>
            </a:r>
            <a:r>
              <a:rPr lang="en-GB" b="1" dirty="0" err="1"/>
              <a:t>तोता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Correct completed sentence: </a:t>
            </a:r>
            <a:r>
              <a:rPr lang="en-GB" b="1" dirty="0"/>
              <a:t>“</a:t>
            </a:r>
            <a:r>
              <a:rPr lang="en-GB" b="1" dirty="0" err="1"/>
              <a:t>आदमी</a:t>
            </a:r>
            <a:r>
              <a:rPr lang="en-GB" b="1" dirty="0"/>
              <a:t>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हाथ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हथौड़ा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main scene on the left and the sentence on the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</a:t>
            </a:r>
            <a:r>
              <a:rPr lang="en-GB" b="1" dirty="0"/>
              <a:t>“</a:t>
            </a:r>
            <a:r>
              <a:rPr lang="en-GB" b="1" dirty="0" err="1"/>
              <a:t>आदमी</a:t>
            </a:r>
            <a:r>
              <a:rPr lang="en-GB" b="1" dirty="0"/>
              <a:t>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हाथ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___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r>
              <a:rPr lang="en-GB" dirty="0"/>
              <a:t> with an empty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three picture-and-word options below the sentence: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ढोल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हथौड़ा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तोता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Make the hammer in the man’s hand clearly visible.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hammer or the correct option initially.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r>
              <a:rPr lang="en-GB" b="1" dirty="0"/>
              <a:t>Image Requirements: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Main scene:</a:t>
            </a:r>
            <a:r>
              <a:rPr lang="en-GB" dirty="0"/>
              <a:t> A man holding a hammer beside a simple workbench. Clearly show the wooden handle in his hand and the metal head above it. A wooden plank and a nail can appear on the workbench, but keep them secondary. Do not include other tools.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ढोल</a:t>
            </a:r>
            <a:r>
              <a:rPr lang="en-GB" b="1" dirty="0"/>
              <a:t> option:</a:t>
            </a:r>
            <a:r>
              <a:rPr lang="en-GB" dirty="0"/>
              <a:t> A recognisable drum with a cylindrical body, two drumheads and visible side lacing.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हथौड़ा</a:t>
            </a:r>
            <a:r>
              <a:rPr lang="en-GB" b="1" dirty="0"/>
              <a:t> option:</a:t>
            </a:r>
            <a:r>
              <a:rPr lang="en-GB" dirty="0"/>
              <a:t> A clear hammer matching the one in the man’s hand, with the same wooden handle and metal head.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तोता</a:t>
            </a:r>
            <a:r>
              <a:rPr lang="en-GB" b="1" dirty="0"/>
              <a:t> option:</a:t>
            </a:r>
            <a:r>
              <a:rPr lang="en-GB" dirty="0"/>
              <a:t> A recognisable green parrot with a curved red beak and a long tail.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consistent, child-friendly artwork with minimal background detail.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hammer large enough to identify in both the main scene and the option card.</a:t>
            </a:r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main picture appears first.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sentence appears with an empty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three option cards fade in one by 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and sentence VO before enabling interaction.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Sentence VO:</a:t>
            </a:r>
            <a:endParaRPr lang="en-GB" dirty="0"/>
          </a:p>
          <a:p>
            <a:r>
              <a:rPr lang="en-GB" dirty="0"/>
              <a:t>Read </a:t>
            </a:r>
            <a:r>
              <a:rPr lang="en-GB" b="1" dirty="0"/>
              <a:t>“</a:t>
            </a:r>
            <a:r>
              <a:rPr lang="en-GB" b="1" dirty="0" err="1"/>
              <a:t>आदमी</a:t>
            </a:r>
            <a:r>
              <a:rPr lang="en-GB" b="1" dirty="0"/>
              <a:t>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हाथ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…”</a:t>
            </a:r>
            <a:r>
              <a:rPr lang="en-GB" dirty="0"/>
              <a:t>, pause at the blank, then say </a:t>
            </a:r>
            <a:r>
              <a:rPr lang="en-GB" b="1" dirty="0"/>
              <a:t>“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Do not say the missing word.</a:t>
            </a:r>
          </a:p>
          <a:p>
            <a:r>
              <a:rPr lang="en-GB" b="1" dirty="0"/>
              <a:t>Option VO:</a:t>
            </a:r>
            <a:endParaRPr lang="en-GB" dirty="0"/>
          </a:p>
          <a:p>
            <a:r>
              <a:rPr lang="en-GB" dirty="0"/>
              <a:t>When an option is tapped, play only its name:</a:t>
            </a:r>
          </a:p>
          <a:p>
            <a:r>
              <a:rPr lang="en-GB" b="1" dirty="0"/>
              <a:t>“</a:t>
            </a:r>
            <a:r>
              <a:rPr lang="en-GB" b="1" dirty="0" err="1"/>
              <a:t>ढोल</a:t>
            </a:r>
            <a:r>
              <a:rPr lang="en-GB" b="1" dirty="0"/>
              <a:t>।” / “</a:t>
            </a:r>
            <a:r>
              <a:rPr lang="en-GB" b="1" dirty="0" err="1"/>
              <a:t>हथौड़ा</a:t>
            </a:r>
            <a:r>
              <a:rPr lang="en-GB" b="1" dirty="0"/>
              <a:t>।” / “</a:t>
            </a:r>
            <a:r>
              <a:rPr lang="en-GB" b="1" dirty="0" err="1"/>
              <a:t>तोता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tap plays the word’s name.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drag into the blank submits the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dragging while any VO plays.</a:t>
            </a:r>
          </a:p>
          <a:p>
            <a:r>
              <a:rPr lang="en-GB" b="1" dirty="0"/>
              <a:t>Correct Answer: </a:t>
            </a:r>
            <a:r>
              <a:rPr lang="en-GB" b="1" dirty="0" err="1"/>
              <a:t>हथौड़ा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</a:t>
            </a:r>
            <a:r>
              <a:rPr lang="en-GB" b="1" dirty="0" err="1"/>
              <a:t>हथौड़ा</a:t>
            </a:r>
            <a:r>
              <a:rPr lang="en-GB" dirty="0"/>
              <a:t> card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Display the completed sentence:</a:t>
            </a:r>
          </a:p>
          <a:p>
            <a:r>
              <a:rPr lang="en-GB" b="1" dirty="0"/>
              <a:t>“</a:t>
            </a:r>
            <a:r>
              <a:rPr lang="en-GB" b="1" dirty="0" err="1"/>
              <a:t>आदमी</a:t>
            </a:r>
            <a:r>
              <a:rPr lang="en-GB" b="1" dirty="0"/>
              <a:t>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हाथ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हथौड़ा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correct answer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sparkle/confetti effect.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completed sentence.</a:t>
            </a:r>
          </a:p>
          <a:p>
            <a:r>
              <a:rPr lang="en-GB" b="1" dirty="0"/>
              <a:t>Correct Response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आदमी</a:t>
            </a:r>
            <a:r>
              <a:rPr lang="en-GB" b="1" dirty="0"/>
              <a:t>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हाथ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हथौड़ा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drops </a:t>
            </a:r>
            <a:r>
              <a:rPr lang="en-GB" b="1" dirty="0" err="1"/>
              <a:t>ढोल</a:t>
            </a:r>
            <a:r>
              <a:rPr lang="en-GB" dirty="0"/>
              <a:t> or </a:t>
            </a:r>
            <a:r>
              <a:rPr lang="en-GB" b="1" dirty="0" err="1"/>
              <a:t>तोता</a:t>
            </a:r>
            <a:r>
              <a:rPr lang="en-GB" dirty="0"/>
              <a:t> into the blank, softly shake the wrong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hammer, any option or a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another attempt.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 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 card and return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the </a:t>
            </a:r>
            <a:r>
              <a:rPr lang="en-GB" b="1" dirty="0"/>
              <a:t>full sentence with each option</a:t>
            </a:r>
            <a:r>
              <a:rPr lang="en-GB" dirty="0"/>
              <a:t>, one at a time, from left to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Briefly preview each word in the blank while its sentence is spoken.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same neutral preview style for all three words. Do not show success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the </a:t>
            </a:r>
            <a:r>
              <a:rPr lang="en-GB" b="1" dirty="0"/>
              <a:t>hammer in the man’s hand</a:t>
            </a:r>
            <a:r>
              <a:rPr lang="en-GB" dirty="0"/>
              <a:t>, including its handle and metal head, using a soft outline or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all three readings, restore the empty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glow the correct option or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keep all three options available.</a:t>
            </a:r>
          </a:p>
          <a:p>
            <a:r>
              <a:rPr lang="en-GB" b="1" dirty="0"/>
              <a:t>VO — Separate Clips with a Short Pause Between Them: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आदमी</a:t>
            </a:r>
            <a:r>
              <a:rPr lang="en-GB" b="1" dirty="0"/>
              <a:t>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हाथ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ढोल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आदमी</a:t>
            </a:r>
            <a:r>
              <a:rPr lang="en-GB" b="1" dirty="0"/>
              <a:t>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हाथ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हथौड़ा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आदमी</a:t>
            </a:r>
            <a:r>
              <a:rPr lang="en-GB" b="1" dirty="0"/>
              <a:t>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हाथ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तोता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 card and return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</a:t>
            </a:r>
            <a:r>
              <a:rPr lang="en-GB" b="1" dirty="0" err="1"/>
              <a:t>हथौड़ा</a:t>
            </a:r>
            <a:r>
              <a:rPr lang="en-GB" dirty="0"/>
              <a:t> option and the sentence blank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</a:t>
            </a:r>
            <a:r>
              <a:rPr lang="en-GB" b="1" dirty="0" err="1"/>
              <a:t>ढोल</a:t>
            </a:r>
            <a:r>
              <a:rPr lang="en-GB" dirty="0"/>
              <a:t> and </a:t>
            </a:r>
            <a:r>
              <a:rPr lang="en-GB" b="1" dirty="0" err="1"/>
              <a:t>तोता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only </a:t>
            </a:r>
            <a:r>
              <a:rPr lang="en-GB" b="1" dirty="0" err="1"/>
              <a:t>हथौड़ा</a:t>
            </a:r>
            <a:r>
              <a:rPr lang="en-GB" dirty="0"/>
              <a:t> to be dragged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Wait for the child to complete the action. Do not fill the blank automatically.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आदमी</a:t>
            </a:r>
            <a:r>
              <a:rPr lang="en-GB" b="1" dirty="0"/>
              <a:t>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हाथ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हथौड़ा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‘</a:t>
            </a:r>
            <a:r>
              <a:rPr lang="en-GB" b="1" dirty="0" err="1"/>
              <a:t>हथौड़ा</a:t>
            </a:r>
            <a:r>
              <a:rPr lang="en-GB" b="1" dirty="0"/>
              <a:t>’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Practice-Round Hand Nudge: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Confirm with </a:t>
            </a:r>
            <a:r>
              <a:rPr lang="en-GB" b="1" dirty="0"/>
              <a:t>Ankita</a:t>
            </a:r>
            <a:r>
              <a:rPr lang="en-GB" dirty="0"/>
              <a:t> whether Hint 3 should include a hand drag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Pending confirmation, use </a:t>
            </a:r>
            <a:r>
              <a:rPr lang="en-GB" b="1" dirty="0"/>
              <a:t>glow and lock without a hand</a:t>
            </a:r>
            <a:r>
              <a:rPr lang="en-GB" dirty="0"/>
              <a:t>, following the earlier practice QA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approved, show the hand moving from </a:t>
            </a:r>
            <a:r>
              <a:rPr lang="en-GB" b="1" dirty="0" err="1"/>
              <a:t>हथौड़ा</a:t>
            </a:r>
            <a:r>
              <a:rPr lang="en-GB" dirty="0"/>
              <a:t> to the sentence blank.</a:t>
            </a:r>
          </a:p>
          <a:p>
            <a:r>
              <a:rPr lang="en-GB" b="1" dirty="0"/>
              <a:t>Correct Response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</a:t>
            </a:r>
            <a:r>
              <a:rPr lang="en-GB" b="1" dirty="0" err="1"/>
              <a:t>हथौड़ा</a:t>
            </a:r>
            <a:r>
              <a:rPr lang="en-GB" dirty="0"/>
              <a:t>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 completed sentence.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any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the feedback finishes.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pop when the picture, sentence or options appear.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tap/pick-up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drop.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success chime on the correct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SFX below the VO volume.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</a:t>
            </a:r>
            <a:r>
              <a:rPr lang="en-GB" b="1" dirty="0" err="1"/>
              <a:t>हथौड़ा</a:t>
            </a:r>
            <a:r>
              <a:rPr lang="en-GB" dirty="0"/>
              <a:t> is correctly placed and feedback finishes.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Replace the old scene, sentence, option images and associated audio with the updated content.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option text </a:t>
            </a:r>
            <a:r>
              <a:rPr lang="en-GB" b="1" dirty="0" err="1"/>
              <a:t>ढोल</a:t>
            </a:r>
            <a:r>
              <a:rPr lang="en-GB" b="1" dirty="0"/>
              <a:t>, </a:t>
            </a:r>
            <a:r>
              <a:rPr lang="en-GB" b="1" dirty="0" err="1"/>
              <a:t>हथौड़ा</a:t>
            </a:r>
            <a:r>
              <a:rPr lang="en-GB" b="1" dirty="0"/>
              <a:t>, </a:t>
            </a:r>
            <a:r>
              <a:rPr lang="en-GB" b="1" dirty="0" err="1"/>
              <a:t>तोता</a:t>
            </a:r>
            <a:r>
              <a:rPr lang="en-GB" dirty="0"/>
              <a:t> consistently.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Size the blank and option card so </a:t>
            </a:r>
            <a:r>
              <a:rPr lang="en-GB" b="1" dirty="0" err="1"/>
              <a:t>हथौड़ा</a:t>
            </a:r>
            <a:r>
              <a:rPr lang="en-GB" dirty="0"/>
              <a:t> fits clearly without reducing readability.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Preserve the </a:t>
            </a:r>
            <a:r>
              <a:rPr lang="en-GB" dirty="0" err="1"/>
              <a:t>nukta</a:t>
            </a:r>
            <a:r>
              <a:rPr lang="en-GB" dirty="0"/>
              <a:t> under </a:t>
            </a:r>
            <a:r>
              <a:rPr lang="en-GB" b="1" dirty="0" err="1"/>
              <a:t>ड़</a:t>
            </a:r>
            <a:r>
              <a:rPr lang="en-GB" dirty="0"/>
              <a:t> in </a:t>
            </a:r>
            <a:r>
              <a:rPr lang="en-GB" b="1" dirty="0" err="1"/>
              <a:t>हथौड़ा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and drags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</a:t>
            </a:r>
            <a:r>
              <a:rPr lang="en-GB" b="1" dirty="0"/>
              <a:t>one wrong-attempt counter for this sentence blank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Switching between </a:t>
            </a:r>
            <a:r>
              <a:rPr lang="en-GB" b="1" dirty="0" err="1"/>
              <a:t>ढोल</a:t>
            </a:r>
            <a:r>
              <a:rPr lang="en-GB" dirty="0"/>
              <a:t> and </a:t>
            </a:r>
            <a:r>
              <a:rPr lang="en-GB" b="1" dirty="0" err="1"/>
              <a:t>तोता</a:t>
            </a:r>
            <a:r>
              <a:rPr lang="en-GB" dirty="0"/>
              <a:t> must not reset the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name-only tap or release outside the blank does not count as a wrong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Trigger Hint 1 after the first wrong drop, Hint 2 after the second, and Hint 3 after the third.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answers correctly earlier, accept the answer and stop the hint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Hint 2 previews are temporary comparisons, not accepted answers.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the relevant </a:t>
            </a:r>
            <a:r>
              <a:rPr lang="en-GB" b="1" dirty="0"/>
              <a:t>scene detail</a:t>
            </a:r>
            <a:r>
              <a:rPr lang="en-GB" dirty="0"/>
              <a:t> in Hint 2 because the task tests picture understanding and sentence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i-IN" b="1" dirty="0"/>
              <a:t>ओ की मात्रा (◌ो) वाले 12 शब्द:</a:t>
            </a:r>
            <a:endParaRPr lang="hi-IN" dirty="0"/>
          </a:p>
          <a:p>
            <a:r>
              <a:rPr lang="hi-IN" dirty="0"/>
              <a:t>मोर, तोता, घोड़ा, ढोल, गोल, कोयल, टोपी, रोटी, गोभी, धोबी, कटोरा, खोना।</a:t>
            </a:r>
          </a:p>
          <a:p>
            <a:r>
              <a:rPr lang="hi-IN" b="1" dirty="0"/>
              <a:t>औ की मात्रा (◌ौ) वाले 12 शब्द:</a:t>
            </a:r>
            <a:endParaRPr lang="hi-IN" dirty="0"/>
          </a:p>
          <a:p>
            <a:r>
              <a:rPr lang="hi-IN" dirty="0"/>
              <a:t>कौआ, पौधा, दौड़, चौक, चौकी, चौड़ा, हथौड़ा, खिलौना, कचौड़ी, पकौड़ा, तौलिया, मौसम।</a:t>
            </a:r>
          </a:p>
          <a:p>
            <a:br>
              <a:rPr lang="en-IN" dirty="0"/>
            </a:br>
            <a:r>
              <a:rPr lang="en-IN" dirty="0"/>
              <a:t>Full game logic same as in </a:t>
            </a:r>
            <a:r>
              <a:rPr lang="hi-IN" sz="1800" b="0" i="0">
                <a:effectLst/>
                <a:latin typeface="Calibri" panose="020F0502020204030204" pitchFamily="34" charset="0"/>
              </a:rPr>
              <a:t>आ, इ, ई मात्रा वाले शब्द पढ़ता है। शब्दों में आने वाली मात्रा पहचानता है ।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B3736-A798-4C43-B1A5-E113079F962C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0869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[DRAFT — generated from the card, in the format ratified in the S03 review (2026-09-30). Not yet reviewed by the SME.]</a:t>
            </a:r>
          </a:p>
          <a:p>
            <a:r>
              <a:t>CELEBRATION — no text on the page. VO:</a:t>
            </a:r>
          </a:p>
          <a:p>
            <a:r>
              <a:t>“शाबाश! आज हमने सीखा, ओ और औ की मात्रा पहचानना, और मात्रा वाले शब्द पढ़ना।”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37744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B3D8C"/>
                </a:solidFill>
              </a:rPr>
              <a:t>HI02H11_L02_S04 · मात्राओं की रेल · ओ / औ</a:t>
            </a:r>
          </a:p>
          <a:p>
            <a:pPr algn="ctr"/>
            <a:r>
              <a:rPr sz="1800">
                <a:solidFill>
                  <a:srgbClr val="5A6678"/>
                </a:solidFill>
              </a:rPr>
              <a:t>Page-by-page review · 17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 · 01_landing.png</a:t>
            </a:r>
          </a:p>
        </p:txBody>
      </p:sp>
      <p:pic>
        <p:nvPicPr>
          <p:cNvPr id="3" name="Picture 2" descr="01_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ate_tuto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206"/>
            <a:ext cx="12191695" cy="61535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2 · 02_MATRA_INTRO.png</a:t>
            </a:r>
          </a:p>
        </p:txBody>
      </p:sp>
      <p:pic>
        <p:nvPicPr>
          <p:cNvPr id="3" name="Picture 2" descr="02_MATRA_IN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3 · 03_MATRA_BUILD.png</a:t>
            </a:r>
          </a:p>
        </p:txBody>
      </p:sp>
      <p:pic>
        <p:nvPicPr>
          <p:cNvPr id="3" name="Picture 2" descr="03_MATRA_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4 · 04_MEET_PAIR.png</a:t>
            </a:r>
          </a:p>
        </p:txBody>
      </p:sp>
      <p:pic>
        <p:nvPicPr>
          <p:cNvPr id="3" name="Picture 2" descr="04_MEET_P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5 · 05_MATRA_BUILD.png</a:t>
            </a:r>
          </a:p>
        </p:txBody>
      </p:sp>
      <p:pic>
        <p:nvPicPr>
          <p:cNvPr id="3" name="Picture 2" descr="05_MATRA_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6 · 06_MEET_PAIR.png</a:t>
            </a:r>
          </a:p>
        </p:txBody>
      </p:sp>
      <p:pic>
        <p:nvPicPr>
          <p:cNvPr id="3" name="Picture 2" descr="06_MEET_P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ate_gui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2206"/>
            <a:ext cx="12191695" cy="61535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7 · 07_TRAIN_TAP.png</a:t>
            </a:r>
          </a:p>
        </p:txBody>
      </p:sp>
      <p:pic>
        <p:nvPicPr>
          <p:cNvPr id="3" name="Picture 2" descr="07_TRAIN_T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8 · 08_TRAIN_TAP.png</a:t>
            </a:r>
          </a:p>
        </p:txBody>
      </p:sp>
      <p:pic>
        <p:nvPicPr>
          <p:cNvPr id="3" name="Picture 2" descr="08_TRAIN_T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9 · 09_TRAIN_TAP.png</a:t>
            </a:r>
          </a:p>
        </p:txBody>
      </p:sp>
      <p:pic>
        <p:nvPicPr>
          <p:cNvPr id="3" name="Picture 2" descr="09_TRAIN_T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10 · 10_TRAIN_SORT.png</a:t>
            </a:r>
          </a:p>
        </p:txBody>
      </p:sp>
      <p:pic>
        <p:nvPicPr>
          <p:cNvPr id="3" name="Picture 2" descr="10_TRAIN_S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11 · 11_TRAIN_SORT.png</a:t>
            </a:r>
          </a:p>
        </p:txBody>
      </p:sp>
      <p:pic>
        <p:nvPicPr>
          <p:cNvPr id="3" name="Picture 2" descr="11_TRAIN_S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12 · 12_WORD_BUILD.png</a:t>
            </a:r>
          </a:p>
        </p:txBody>
      </p:sp>
      <p:pic>
        <p:nvPicPr>
          <p:cNvPr id="3" name="Picture 2" descr="12_WORD_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13 · 13_TRAIN_SORT.png</a:t>
            </a:r>
          </a:p>
        </p:txBody>
      </p:sp>
      <p:pic>
        <p:nvPicPr>
          <p:cNvPr id="3" name="Picture 2" descr="13_TRAIN_S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14 · 14_SENTENCE_COMPLETE.png</a:t>
            </a:r>
          </a:p>
        </p:txBody>
      </p:sp>
      <p:pic>
        <p:nvPicPr>
          <p:cNvPr id="3" name="Picture 2" descr="14_SENTENCE_COMP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15 · 15_SENTENCE_COMPLETE.png</a:t>
            </a:r>
          </a:p>
        </p:txBody>
      </p:sp>
      <p:pic>
        <p:nvPicPr>
          <p:cNvPr id="3" name="Picture 2" descr="15_SENTENCE_COMP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16 · 16_SENTENCE_COMPLETE.png</a:t>
            </a:r>
          </a:p>
        </p:txBody>
      </p:sp>
      <p:pic>
        <p:nvPicPr>
          <p:cNvPr id="3" name="Picture 2" descr="16_SENTENCE_COMP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ate_roun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206"/>
            <a:ext cx="12191695" cy="61535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550B48-6A62-FDE2-8365-822119B10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20" y="547741"/>
            <a:ext cx="10631867" cy="529911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17 · 17_CELEBRATION.png</a:t>
            </a:r>
          </a:p>
        </p:txBody>
      </p:sp>
      <p:pic>
        <p:nvPicPr>
          <p:cNvPr id="3" name="Picture 2" descr="17_CELE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14347</Words>
  <Application>Microsoft Office PowerPoint</Application>
  <PresentationFormat>Widescreen</PresentationFormat>
  <Paragraphs>1429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Aamir .</cp:lastModifiedBy>
  <cp:revision>3</cp:revision>
  <dcterms:created xsi:type="dcterms:W3CDTF">2013-01-27T09:14:16Z</dcterms:created>
  <dcterms:modified xsi:type="dcterms:W3CDTF">2026-10-05T11:39:25Z</dcterms:modified>
  <cp:category/>
</cp:coreProperties>
</file>